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1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2.xml" ContentType="application/vnd.openxmlformats-officedocument.drawingml.chart+xml"/>
  <Override PartName="/ppt/slides/charts/chart3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4.xml" ContentType="application/vnd.openxmlformats-officedocument.drawingml.chart+xml"/>
  <Override PartName="/ppt/slides/charts/chart5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6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charts/chart7.xml" ContentType="application/vnd.openxmlformats-officedocument.drawingml.chart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slides/charts/chart8.xml" ContentType="application/vnd.openxmlformats-officedocument.drawingml.chart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slides/charts/chart9.xml" ContentType="application/vnd.openxmlformats-officedocument.drawingml.chart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slides/charts/chart10.xml" ContentType="application/vnd.openxmlformats-officedocument.drawingml.chart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efb71456b4446c7" /><Relationship Type="http://schemas.openxmlformats.org/officeDocument/2006/relationships/extended-properties" Target="/docProps/app.xml" Id="R625a3c0737da485f" /><Relationship Type="http://schemas.openxmlformats.org/officeDocument/2006/relationships/officeDocument" Target="/ppt/presentation.xml" Id="R9af80cc5936f43f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bf7a9f6ca914c03"/>
  </p:sldMasterIdLst>
  <p:notesMasterIdLst>
    <p:notesMasterId xmlns:r="http://schemas.openxmlformats.org/officeDocument/2006/relationships" r:id="R81acaddaede247de"/>
  </p:notesMasterIdLst>
  <p:sldIdLst>
    <p:sldId xmlns:r="http://schemas.openxmlformats.org/officeDocument/2006/relationships" id="256" r:id="R007ea3ba0fa9425f"/>
    <p:sldId xmlns:r="http://schemas.openxmlformats.org/officeDocument/2006/relationships" id="257" r:id="Rcd6b4c0f7d434a0a"/>
    <p:sldId xmlns:r="http://schemas.openxmlformats.org/officeDocument/2006/relationships" id="258" r:id="Rf46ba8e0075c4db9"/>
    <p:sldId xmlns:r="http://schemas.openxmlformats.org/officeDocument/2006/relationships" id="259" r:id="R19920575d2594008"/>
    <p:sldId xmlns:r="http://schemas.openxmlformats.org/officeDocument/2006/relationships" id="260" r:id="R2323535362934768"/>
    <p:sldId xmlns:r="http://schemas.openxmlformats.org/officeDocument/2006/relationships" id="261" r:id="R6d5c681aac6046fd"/>
    <p:sldId xmlns:r="http://schemas.openxmlformats.org/officeDocument/2006/relationships" id="262" r:id="R33dfc44868dd4f60"/>
    <p:sldId xmlns:r="http://schemas.openxmlformats.org/officeDocument/2006/relationships" id="263" r:id="R9860a93bf0114a17"/>
    <p:sldId xmlns:r="http://schemas.openxmlformats.org/officeDocument/2006/relationships" id="264" r:id="R9719d7db573a48ce"/>
    <p:sldId xmlns:r="http://schemas.openxmlformats.org/officeDocument/2006/relationships" id="265" r:id="Rc61f846e2b8747d2"/>
    <p:sldId xmlns:r="http://schemas.openxmlformats.org/officeDocument/2006/relationships" id="266" r:id="Rd5143d3273594b5d"/>
    <p:sldId xmlns:r="http://schemas.openxmlformats.org/officeDocument/2006/relationships" id="267" r:id="Reec216edbfb747ea"/>
    <p:sldId xmlns:r="http://schemas.openxmlformats.org/officeDocument/2006/relationships" id="268" r:id="R71c6557a15634a10"/>
    <p:sldId xmlns:r="http://schemas.openxmlformats.org/officeDocument/2006/relationships" id="269" r:id="R6b1a177ef32944b7"/>
    <p:sldId xmlns:r="http://schemas.openxmlformats.org/officeDocument/2006/relationships" id="270" r:id="Rc4f6ee7e39cb4d0b"/>
    <p:sldId xmlns:r="http://schemas.openxmlformats.org/officeDocument/2006/relationships" id="271" r:id="Rf4cd879df6874b3b"/>
    <p:sldId xmlns:r="http://schemas.openxmlformats.org/officeDocument/2006/relationships" id="272" r:id="R474d7302cc1b429a"/>
    <p:sldId xmlns:r="http://schemas.openxmlformats.org/officeDocument/2006/relationships" id="273" r:id="R2ae620a85295436b"/>
    <p:sldId xmlns:r="http://schemas.openxmlformats.org/officeDocument/2006/relationships" id="274" r:id="R39a9c3cb76eb43ea"/>
    <p:sldId xmlns:r="http://schemas.openxmlformats.org/officeDocument/2006/relationships" id="275" r:id="Re6a3663a98df4309"/>
    <p:sldId xmlns:r="http://schemas.openxmlformats.org/officeDocument/2006/relationships" id="276" r:id="R1683c96ab77c40f0"/>
    <p:sldId xmlns:r="http://schemas.openxmlformats.org/officeDocument/2006/relationships" id="277" r:id="Rea44ae96bb7d4f2b"/>
    <p:sldId xmlns:r="http://schemas.openxmlformats.org/officeDocument/2006/relationships" id="278" r:id="R79255de6bcc1457b"/>
    <p:sldId xmlns:r="http://schemas.openxmlformats.org/officeDocument/2006/relationships" id="279" r:id="R09e694ce528d4ed9"/>
    <p:sldId xmlns:r="http://schemas.openxmlformats.org/officeDocument/2006/relationships" id="280" r:id="R2bce8b3cc4114e33"/>
    <p:sldId xmlns:r="http://schemas.openxmlformats.org/officeDocument/2006/relationships" id="281" r:id="R898fce316b0e4ed0"/>
    <p:sldId xmlns:r="http://schemas.openxmlformats.org/officeDocument/2006/relationships" id="282" r:id="R5bffd4874b9d496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a08be64af624aa6" /><Relationship Type="http://schemas.openxmlformats.org/officeDocument/2006/relationships/slideMaster" Target="/ppt/slideMasters/slideMaster1.xml" Id="R9bf7a9f6ca914c03" /><Relationship Type="http://schemas.openxmlformats.org/officeDocument/2006/relationships/notesMaster" Target="/ppt/notesMasters/notesMaster1.xml" Id="R81acaddaede247de" /><Relationship Type="http://schemas.openxmlformats.org/officeDocument/2006/relationships/presProps" Target="/ppt/presProps.xml" Id="R56d504fe2a904853" /><Relationship Type="http://schemas.openxmlformats.org/officeDocument/2006/relationships/tableStyles" Target="/ppt/tableStyles.xml" Id="R9c1e05f40db842ac" /><Relationship Type="http://schemas.openxmlformats.org/officeDocument/2006/relationships/slide" Target="/ppt/slides/slide1.xml" Id="R007ea3ba0fa9425f" /><Relationship Type="http://schemas.openxmlformats.org/officeDocument/2006/relationships/slide" Target="/ppt/slides/slide2.xml" Id="Rcd6b4c0f7d434a0a" /><Relationship Type="http://schemas.openxmlformats.org/officeDocument/2006/relationships/slide" Target="/ppt/slides/slide3.xml" Id="Rf46ba8e0075c4db9" /><Relationship Type="http://schemas.openxmlformats.org/officeDocument/2006/relationships/slide" Target="/ppt/slides/slide4.xml" Id="R19920575d2594008" /><Relationship Type="http://schemas.openxmlformats.org/officeDocument/2006/relationships/slide" Target="/ppt/slides/slide5.xml" Id="R2323535362934768" /><Relationship Type="http://schemas.openxmlformats.org/officeDocument/2006/relationships/slide" Target="/ppt/slides/slide6.xml" Id="R6d5c681aac6046fd" /><Relationship Type="http://schemas.openxmlformats.org/officeDocument/2006/relationships/slide" Target="/ppt/slides/slide7.xml" Id="R33dfc44868dd4f60" /><Relationship Type="http://schemas.openxmlformats.org/officeDocument/2006/relationships/slide" Target="/ppt/slides/slide8.xml" Id="R9860a93bf0114a17" /><Relationship Type="http://schemas.openxmlformats.org/officeDocument/2006/relationships/slide" Target="/ppt/slides/slide9.xml" Id="R9719d7db573a48ce" /><Relationship Type="http://schemas.openxmlformats.org/officeDocument/2006/relationships/slide" Target="/ppt/slides/slide10.xml" Id="Rc61f846e2b8747d2" /><Relationship Type="http://schemas.openxmlformats.org/officeDocument/2006/relationships/slide" Target="/ppt/slides/slide11.xml" Id="Rd5143d3273594b5d" /><Relationship Type="http://schemas.openxmlformats.org/officeDocument/2006/relationships/slide" Target="/ppt/slides/slide12.xml" Id="Reec216edbfb747ea" /><Relationship Type="http://schemas.openxmlformats.org/officeDocument/2006/relationships/slide" Target="/ppt/slides/slide13.xml" Id="R71c6557a15634a10" /><Relationship Type="http://schemas.openxmlformats.org/officeDocument/2006/relationships/slide" Target="/ppt/slides/slide14.xml" Id="R6b1a177ef32944b7" /><Relationship Type="http://schemas.openxmlformats.org/officeDocument/2006/relationships/slide" Target="/ppt/slides/slide15.xml" Id="Rc4f6ee7e39cb4d0b" /><Relationship Type="http://schemas.openxmlformats.org/officeDocument/2006/relationships/slide" Target="/ppt/slides/slide16.xml" Id="Rf4cd879df6874b3b" /><Relationship Type="http://schemas.openxmlformats.org/officeDocument/2006/relationships/slide" Target="/ppt/slides/slide17.xml" Id="R474d7302cc1b429a" /><Relationship Type="http://schemas.openxmlformats.org/officeDocument/2006/relationships/slide" Target="/ppt/slides/slide18.xml" Id="R2ae620a85295436b" /><Relationship Type="http://schemas.openxmlformats.org/officeDocument/2006/relationships/slide" Target="/ppt/slides/slide19.xml" Id="R39a9c3cb76eb43ea" /><Relationship Type="http://schemas.openxmlformats.org/officeDocument/2006/relationships/slide" Target="/ppt/slides/slide20.xml" Id="Re6a3663a98df4309" /><Relationship Type="http://schemas.openxmlformats.org/officeDocument/2006/relationships/slide" Target="/ppt/slides/slide21.xml" Id="R1683c96ab77c40f0" /><Relationship Type="http://schemas.openxmlformats.org/officeDocument/2006/relationships/slide" Target="/ppt/slides/slide22.xml" Id="Rea44ae96bb7d4f2b" /><Relationship Type="http://schemas.openxmlformats.org/officeDocument/2006/relationships/slide" Target="/ppt/slides/slide23.xml" Id="R79255de6bcc1457b" /><Relationship Type="http://schemas.openxmlformats.org/officeDocument/2006/relationships/slide" Target="/ppt/slides/slide24.xml" Id="R09e694ce528d4ed9" /><Relationship Type="http://schemas.openxmlformats.org/officeDocument/2006/relationships/slide" Target="/ppt/slides/slide25.xml" Id="R2bce8b3cc4114e33" /><Relationship Type="http://schemas.openxmlformats.org/officeDocument/2006/relationships/slide" Target="/ppt/slides/slide26.xml" Id="R898fce316b0e4ed0" /><Relationship Type="http://schemas.openxmlformats.org/officeDocument/2006/relationships/slide" Target="/ppt/slides/slide27.xml" Id="R5bffd4874b9d496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a4f95b8da1547f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5334feea6fa43d8" /><Relationship Type="http://schemas.openxmlformats.org/officeDocument/2006/relationships/notesMaster" Target="/ppt/notesMasters/notesMaster1.xml" Id="R09d5359fa66f475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b6138799eed45d9" /><Relationship Type="http://schemas.openxmlformats.org/officeDocument/2006/relationships/notesMaster" Target="/ppt/notesMasters/notesMaster1.xml" Id="Ra78c324827f6495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0fce10a89094a19" /><Relationship Type="http://schemas.openxmlformats.org/officeDocument/2006/relationships/notesMaster" Target="/ppt/notesMasters/notesMaster1.xml" Id="R9c8bb99035c342b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2a3ab78ef444b44" /><Relationship Type="http://schemas.openxmlformats.org/officeDocument/2006/relationships/notesMaster" Target="/ppt/notesMasters/notesMaster1.xml" Id="R949329ec2a3c484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5dfaa40e1b8433a" /><Relationship Type="http://schemas.openxmlformats.org/officeDocument/2006/relationships/notesMaster" Target="/ppt/notesMasters/notesMaster1.xml" Id="R01b51426757d478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1014b71565445c8" /><Relationship Type="http://schemas.openxmlformats.org/officeDocument/2006/relationships/notesMaster" Target="/ppt/notesMasters/notesMaster1.xml" Id="R0233382499ce4dc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50bb86f77f4498a" /><Relationship Type="http://schemas.openxmlformats.org/officeDocument/2006/relationships/notesMaster" Target="/ppt/notesMasters/notesMaster1.xml" Id="R493cc16dd3db4ad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8b7b469a4b24299" /><Relationship Type="http://schemas.openxmlformats.org/officeDocument/2006/relationships/notesMaster" Target="/ppt/notesMasters/notesMaster1.xml" Id="R2c9e86e6335b441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bbcb65f9d4f4ae0" /><Relationship Type="http://schemas.openxmlformats.org/officeDocument/2006/relationships/notesMaster" Target="/ppt/notesMasters/notesMaster1.xml" Id="R59b9fbd1e3f74f3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d7d1d9028c74f1e" /><Relationship Type="http://schemas.openxmlformats.org/officeDocument/2006/relationships/notesMaster" Target="/ppt/notesMasters/notesMaster1.xml" Id="Rb6b19a115a294dd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09f30081ade4544" /><Relationship Type="http://schemas.openxmlformats.org/officeDocument/2006/relationships/notesMaster" Target="/ppt/notesMasters/notesMaster1.xml" Id="R3040c26d78f5490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98770a923d74595" /><Relationship Type="http://schemas.openxmlformats.org/officeDocument/2006/relationships/notesMaster" Target="/ppt/notesMasters/notesMaster1.xml" Id="R9ec7edca28634d0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9bfbd1c814641ef" /><Relationship Type="http://schemas.openxmlformats.org/officeDocument/2006/relationships/notesMaster" Target="/ppt/notesMasters/notesMaster1.xml" Id="R513a915674514ea1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9f214f4eee214a9c" /><Relationship Type="http://schemas.openxmlformats.org/officeDocument/2006/relationships/notesMaster" Target="/ppt/notesMasters/notesMaster1.xml" Id="R8a00229cba1a4e13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90c4fe48fba743a1" /><Relationship Type="http://schemas.openxmlformats.org/officeDocument/2006/relationships/notesMaster" Target="/ppt/notesMasters/notesMaster1.xml" Id="R12a19c2843404d6e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1b786809b39741dd" /><Relationship Type="http://schemas.openxmlformats.org/officeDocument/2006/relationships/notesMaster" Target="/ppt/notesMasters/notesMaster1.xml" Id="R13696faed29f4f14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8b9a9d2c50ed47cd" /><Relationship Type="http://schemas.openxmlformats.org/officeDocument/2006/relationships/notesMaster" Target="/ppt/notesMasters/notesMaster1.xml" Id="Rae43c9d98065486a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85d0b1ca74954950" /><Relationship Type="http://schemas.openxmlformats.org/officeDocument/2006/relationships/notesMaster" Target="/ppt/notesMasters/notesMaster1.xml" Id="R8660d83491f04e1f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79caf01f29b64258" /><Relationship Type="http://schemas.openxmlformats.org/officeDocument/2006/relationships/notesMaster" Target="/ppt/notesMasters/notesMaster1.xml" Id="Rf105736d36334004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209bee8b43264cbf" /><Relationship Type="http://schemas.openxmlformats.org/officeDocument/2006/relationships/notesMaster" Target="/ppt/notesMasters/notesMaster1.xml" Id="R56fdc0e323394b95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f3dfeeced3534d71" /><Relationship Type="http://schemas.openxmlformats.org/officeDocument/2006/relationships/notesMaster" Target="/ppt/notesMasters/notesMaster1.xml" Id="R9d24fe1537f3476d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0e29571ff98c458d" /><Relationship Type="http://schemas.openxmlformats.org/officeDocument/2006/relationships/notesMaster" Target="/ppt/notesMasters/notesMaster1.xml" Id="Rdadaf87bb63846c2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6c56f3d58b274bef" /><Relationship Type="http://schemas.openxmlformats.org/officeDocument/2006/relationships/notesMaster" Target="/ppt/notesMasters/notesMaster1.xml" Id="Rf52793dcdc924ded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8ce1cb4e249942cd" /><Relationship Type="http://schemas.openxmlformats.org/officeDocument/2006/relationships/notesMaster" Target="/ppt/notesMasters/notesMaster1.xml" Id="Redcc05415b68445e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81df9178cdd941fb" /><Relationship Type="http://schemas.openxmlformats.org/officeDocument/2006/relationships/notesMaster" Target="/ppt/notesMasters/notesMaster1.xml" Id="Rc8bf8e2bac4f4317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157f875da75e458a" /><Relationship Type="http://schemas.openxmlformats.org/officeDocument/2006/relationships/notesMaster" Target="/ppt/notesMasters/notesMaster1.xml" Id="R8a2a4f6064b643b8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ecdee7bc99cf461f" /><Relationship Type="http://schemas.openxmlformats.org/officeDocument/2006/relationships/notesMaster" Target="/ppt/notesMasters/notesMaster1.xml" Id="R8f7ec879757b4ad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来源：SYNTHESIS_SUMMARY.json；SUMMARY_V02.json；RESEARCH_SPEC_v0.2_EXTENSION_20260921.json</a:t>
            </a:r>
          </a:p>
          <a:p xmlns:a="http://schemas.openxmlformats.org/drawingml/2006/main">
            <a:r>
              <a:t>题材口径来自开盘啦，不是同花顺；本轮不使用新闻。无策略、无交易执行。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来源：MODIFICATION_FRAMEWORK_v0.2.md；RESEARCH_SPEC_v0.2_EXTENSION_20260921.json</a:t>
            </a:r>
          </a:p>
          <a:p xmlns:a="http://schemas.openxmlformats.org/drawingml/2006/main">
            <a:r>
              <a:t>研究顺序由用户要求冻结。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来源：RESEARCH_SPEC_v0.1.json；RESEARCH_SPEC_v0.2_EXTENSION_20260921.json；DATA_QUALITY_V02.json</a:t>
            </a:r>
          </a:p>
          <a:p xmlns:a="http://schemas.openxmlformats.org/drawingml/2006/main">
            <a:r>
              <a:t>所有新增口径在新增结果检视前冻结；原始SQLite只读。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来源：RESEARCH_SPEC_v0.2_EXTENSION_20260921.json</a:t>
            </a:r>
          </a:p>
          <a:p xmlns:a="http://schemas.openxmlformats.org/drawingml/2006/main">
            <a:r>
              <a:t>所有并列打破顺序均为冻结确定性规则。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来源：THEME_PROFILE.csv；SUMMARY_V02.json</a:t>
            </a:r>
          </a:p>
          <a:p xmlns:a="http://schemas.openxmlformats.org/drawingml/2006/main">
            <a:r>
              <a:t>反复活跃以同一开盘啦原始标签退潮后再次成段定义。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来源：LIFECYCLE_COHORT_SUMMARY.csv</a:t>
            </a:r>
          </a:p>
          <a:p xmlns:a="http://schemas.openxmlformats.org/drawingml/2006/main">
            <a:r>
              <a:t>先在题材层求每个题材的峰值，再在生命周期类别内取中位数。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来源：ROTATION_SUMMARY.csv；DAILY_THEME_HIERARCHY.csv</a:t>
            </a:r>
          </a:p>
          <a:p xmlns:a="http://schemas.openxmlformats.org/drawingml/2006/main">
            <a:r>
              <a:t>分母=204组相邻交易日；百分比按未四舍五入计数闭合。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来源：RESEARCH_SPEC_v0.1.json；RESEARCH_SPEC_v0.2_EXTENSION_20260921.json</a:t>
            </a:r>
          </a:p>
          <a:p xmlns:a="http://schemas.openxmlformats.org/drawingml/2006/main">
            <a:r>
              <a:t>实现龙头始终标记为 hindsight_descriptive。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来源：LEADER_ROLE_EVIDENCE.csv</a:t>
            </a:r>
          </a:p>
          <a:p xmlns:a="http://schemas.openxmlformats.org/drawingml/2006/main">
            <a:r>
              <a:t>forward_* 严格从冻结日之后开始；无后续交易日不进入分母。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来源：LEADER_ROLE_EVIDENCE.csv</a:t>
            </a:r>
          </a:p>
          <a:p xmlns:a="http://schemas.openxmlformats.org/drawingml/2006/main">
            <a:r>
              <a:t>图中展示回撤绝对幅度；越小越浅。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来源：REALIZED_LEADER_EVIDENCE.csv</a:t>
            </a:r>
          </a:p>
          <a:p xmlns:a="http://schemas.openxmlformats.org/drawingml/2006/main">
            <a:r>
              <a:t>实现龙头为后视镜标签；四类互斥。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来源：RECURRENT_THEME_DRAGON_DETAIL.csv；RECURRENT_THEME_DRAGON_SUMMARY.csv</a:t>
            </a:r>
          </a:p>
          <a:p xmlns:a="http://schemas.openxmlformats.org/drawingml/2006/main">
            <a:r>
              <a:t>本专题不把冻结日晚于段首的角色强行补到段首。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来源：SUMMARY_V02.json</a:t>
            </a:r>
          </a:p>
          <a:p xmlns:a="http://schemas.openxmlformats.org/drawingml/2006/main">
            <a:r>
              <a:t>槽位分母与去重股票分母不同，不能混用。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来源：RECURRENT_THEME_DRAGON_SUMMARY.csv；SUMMARY_V02.json</a:t>
            </a:r>
          </a:p>
          <a:p xmlns:a="http://schemas.openxmlformats.org/drawingml/2006/main">
            <a:r>
              <a:t>分类基于各题材内同一股票跨段的段首龙位路径。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来源：RECURRENT_THEME_DRAGON_SUMMARY.csv</a:t>
            </a:r>
          </a:p>
          <a:p xmlns:a="http://schemas.openxmlformats.org/drawingml/2006/main">
            <a:r>
              <a:t>按行情段数降序选12个代表题材；完整80题材与全部段明细随附CSV。龙持续率=该题材内至少跨两段进入前三的去重股票数/曾进入前三的去重股票数。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来源：RECURRENT_THEME_DRAGON_SUMMARY.csv</a:t>
            </a:r>
          </a:p>
          <a:p xmlns:a="http://schemas.openxmlformats.org/drawingml/2006/main">
            <a:r>
              <a:t>按行情段数降序选12个代表题材；完整80题材与全部段明细随附CSV。龙持续率=该题材内至少跨两段进入前三的去重股票数/曾进入前三的去重股票数。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来源：RECURRENT_PRIOR_DRAGON_LATER_SUMMARY.csv</a:t>
            </a:r>
          </a:p>
          <a:p xmlns:a="http://schemas.openxmlformats.org/drawingml/2006/main">
            <a:r>
              <a:t>收益窗口=下一行情段；角色分母与收益分母均逐行标明。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来源：SINGLE_WAVE_MULTIDAY_DRAGON_DAILY.csv；SINGLE_WAVE_MULTIDAY_DRAGON_AGGREGATE.csv</a:t>
            </a:r>
          </a:p>
          <a:p xmlns:a="http://schemas.openxmlformats.org/drawingml/2006/main">
            <a:r>
              <a:t>主时间轴 tau_trade；tau_active仅作复核。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来源：SINGLE_WAVE_MULTIDAY_DRAGON_AGGREGATE.csv</a:t>
            </a:r>
          </a:p>
          <a:p xmlns:a="http://schemas.openxmlformats.org/drawingml/2006/main">
            <a:r>
              <a:t>T日为基准，T+1起对同一批T日龙位跟踪；空缺槽位不计入可用分母。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来源：SINGLE_WAVE_MULTIDAY_DRAGON_CASES.csv；SINGLE_WAVE_MULTIDAY_DRAGON_DAILY.csv</a:t>
            </a:r>
          </a:p>
          <a:p xmlns:a="http://schemas.openxmlformats.org/drawingml/2006/main">
            <a:r>
              <a:t>九个短案例为全部单轮多日题材中除一季报增长外的案例；一季报增长单列下一页。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来源：SINGLE_WAVE_MULTIDAY_DRAGON_DAILY.csv；SINGLE_WAVE_MULTIDAY_DRAGON_CASES.csv</a:t>
            </a:r>
          </a:p>
          <a:p xmlns:a="http://schemas.openxmlformats.org/drawingml/2006/main">
            <a:r>
              <a:t>该题材持续18个交易日；页面只展示前8日。段首龙位与更晚冻结日龙位本来就可能不同。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来源：CAPACITY_EVIDENCE.csv；DATA_QUALITY_STAGE4_CAPACITY_LINKAGE.json；RESEARCH_SPEC_v0.2_EXTENSION_20260921.json</a:t>
            </a:r>
          </a:p>
          <a:p xmlns:a="http://schemas.openxmlformats.org/drawingml/2006/main">
            <a:r>
              <a:t>题材—成分精确映射是当前主要限制。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来源：CAPACITY_EVIDENCE.csv</a:t>
            </a:r>
          </a:p>
          <a:p xmlns:a="http://schemas.openxmlformats.org/drawingml/2006/main">
            <a:r>
              <a:t>仅70个精确映射样本；中军弱更适合作为与板块资金流组合的背景变量。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来源：LEADER_RETURNS_EXTENDED.csv；SUMMARY_V02.json</a:t>
            </a:r>
          </a:p>
          <a:p xmlns:a="http://schemas.openxmlformats.org/drawingml/2006/main">
            <a:r>
              <a:t>日线极值采用复权OHLC；678只全部有可用OHLC，缺失日=0。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来源：SUMMARY_V02.json；LEADER_RETURNS_EXTENDED.csv</a:t>
            </a:r>
          </a:p>
          <a:p xmlns:a="http://schemas.openxmlformats.org/drawingml/2006/main">
            <a:r>
              <a:t>均值受极端强股影响；解释优先看中位数与四分位。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来源：LEADER_RETURNS_EXTENDED.csv</a:t>
            </a:r>
          </a:p>
          <a:p xmlns:a="http://schemas.openxmlformats.org/drawingml/2006/main">
            <a:r>
              <a:t>示例按研究区间收益取最高5只与最低5只，仅用于展示字段与极端跨度；完整678行CSV可排序筛选。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来源：SUMMARY_V02.json；本报告全部伴随CSV</a:t>
            </a:r>
          </a:p>
          <a:p xmlns:a="http://schemas.openxmlformats.org/drawingml/2006/main">
            <a:r>
              <a:t>本页不构成交易建议。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7d2bacc836f4f9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b6c4aca5e9d4479" /><Relationship Type="http://schemas.openxmlformats.org/officeDocument/2006/relationships/slideLayout" Target="/ppt/slideLayouts/slideLayout1.xml" Id="Rcd242c192d0c43e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d242c192d0c43e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69cd541bff489e" /><Relationship Type="http://schemas.openxmlformats.org/officeDocument/2006/relationships/notesSlide" Target="/ppt/notesSlides/notesSlide1.xml" Id="Rc9787d5bbb53407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b013804902486d" /><Relationship Type="http://schemas.openxmlformats.org/officeDocument/2006/relationships/notesSlide" Target="/ppt/notesSlides/notesSlide2.xml" Id="R247e39fb6ea3479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1f2fc11dc84b7f" /><Relationship Type="http://schemas.openxmlformats.org/officeDocument/2006/relationships/notesSlide" Target="/ppt/notesSlides/notesSlide3.xml" Id="Rf2f13414b264431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aabbec82b44ed8" /><Relationship Type="http://schemas.openxmlformats.org/officeDocument/2006/relationships/notesSlide" Target="/ppt/notesSlides/notesSlide4.xml" Id="R7ed197e53e4b414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fcc9ea6a4242e4" /><Relationship Type="http://schemas.openxmlformats.org/officeDocument/2006/relationships/chart" Target="/ppt/slides/charts/chart1.xml" Id="R3ed8ad1233f749c7" /><Relationship Type="http://schemas.openxmlformats.org/officeDocument/2006/relationships/notesSlide" Target="/ppt/notesSlides/notesSlide5.xml" Id="R2bc90d1a50d2497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601b1849fb493b" /><Relationship Type="http://schemas.openxmlformats.org/officeDocument/2006/relationships/chart" Target="/ppt/slides/charts/chart2.xml" Id="R296d6e5992b84a32" /><Relationship Type="http://schemas.openxmlformats.org/officeDocument/2006/relationships/chart" Target="/ppt/slides/charts/chart3.xml" Id="R5fd8d7367b07422f" /><Relationship Type="http://schemas.openxmlformats.org/officeDocument/2006/relationships/notesSlide" Target="/ppt/notesSlides/notesSlide6.xml" Id="R048d105677f04ed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63392551c24cc5" /><Relationship Type="http://schemas.openxmlformats.org/officeDocument/2006/relationships/chart" Target="/ppt/slides/charts/chart4.xml" Id="R39c9c6037772403c" /><Relationship Type="http://schemas.openxmlformats.org/officeDocument/2006/relationships/chart" Target="/ppt/slides/charts/chart5.xml" Id="Rad73ad84a7ef4896" /><Relationship Type="http://schemas.openxmlformats.org/officeDocument/2006/relationships/notesSlide" Target="/ppt/notesSlides/notesSlide7.xml" Id="R54e3f071862143e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f0937231314f6e" /><Relationship Type="http://schemas.openxmlformats.org/officeDocument/2006/relationships/notesSlide" Target="/ppt/notesSlides/notesSlide8.xml" Id="R160d02636fb343b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b05bcce8344659" /><Relationship Type="http://schemas.openxmlformats.org/officeDocument/2006/relationships/chart" Target="/ppt/slides/charts/chart6.xml" Id="R5b51a6b0971a446a" /><Relationship Type="http://schemas.openxmlformats.org/officeDocument/2006/relationships/notesSlide" Target="/ppt/notesSlides/notesSlide9.xml" Id="Rf37dc589f7b14a5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1c71c874444eb7" /><Relationship Type="http://schemas.openxmlformats.org/officeDocument/2006/relationships/chart" Target="/ppt/slides/charts/chart7.xml" Id="R208b60e5c6454052" /><Relationship Type="http://schemas.openxmlformats.org/officeDocument/2006/relationships/notesSlide" Target="/ppt/notesSlides/notesSlide10.xml" Id="R5e95c7d30f9146a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2d562f95804df0" /><Relationship Type="http://schemas.openxmlformats.org/officeDocument/2006/relationships/chart" Target="/ppt/slides/charts/chart8.xml" Id="Rd13b6d0b6ced4843" /><Relationship Type="http://schemas.openxmlformats.org/officeDocument/2006/relationships/notesSlide" Target="/ppt/notesSlides/notesSlide11.xml" Id="R7d815fd2b9d84f6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02726f2cbf47f7" /><Relationship Type="http://schemas.openxmlformats.org/officeDocument/2006/relationships/notesSlide" Target="/ppt/notesSlides/notesSlide12.xml" Id="R403a28abda5b4af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20d0f5e3624fef" /><Relationship Type="http://schemas.openxmlformats.org/officeDocument/2006/relationships/notesSlide" Target="/ppt/notesSlides/notesSlide13.xml" Id="Rdb03bbf242774362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a1d2c0abc24c8e" /><Relationship Type="http://schemas.openxmlformats.org/officeDocument/2006/relationships/chart" Target="/ppt/slides/charts/chart9.xml" Id="R7d548cfd309b4db2" /><Relationship Type="http://schemas.openxmlformats.org/officeDocument/2006/relationships/notesSlide" Target="/ppt/notesSlides/notesSlide14.xml" Id="Rf7fb7779fd204239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f63a6ca4d94610" /><Relationship Type="http://schemas.openxmlformats.org/officeDocument/2006/relationships/notesSlide" Target="/ppt/notesSlides/notesSlide15.xml" Id="R131bc125d19c4635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ce7b52ce094e5f" /><Relationship Type="http://schemas.openxmlformats.org/officeDocument/2006/relationships/notesSlide" Target="/ppt/notesSlides/notesSlide16.xml" Id="Ra4db2fae4503400e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956df389f8499c" /><Relationship Type="http://schemas.openxmlformats.org/officeDocument/2006/relationships/notesSlide" Target="/ppt/notesSlides/notesSlide17.xml" Id="Rfc7bfb542356462c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a31fe214124062" /><Relationship Type="http://schemas.openxmlformats.org/officeDocument/2006/relationships/notesSlide" Target="/ppt/notesSlides/notesSlide18.xml" Id="R07300f5596654cbe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d6aa01634a49e4" /><Relationship Type="http://schemas.openxmlformats.org/officeDocument/2006/relationships/notesSlide" Target="/ppt/notesSlides/notesSlide19.xml" Id="Ra6aff6a9ebac4637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6594c6244545ee" /><Relationship Type="http://schemas.openxmlformats.org/officeDocument/2006/relationships/notesSlide" Target="/ppt/notesSlides/notesSlide20.xml" Id="Rb6604a2fe4664373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52c051c89c4e14" /><Relationship Type="http://schemas.openxmlformats.org/officeDocument/2006/relationships/notesSlide" Target="/ppt/notesSlides/notesSlide21.xml" Id="R01e1bd332b8b4c42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e677fd86c4419a" /><Relationship Type="http://schemas.openxmlformats.org/officeDocument/2006/relationships/notesSlide" Target="/ppt/notesSlides/notesSlide22.xml" Id="Rd8ce942a6f2c4363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06632e0bf349b7" /><Relationship Type="http://schemas.openxmlformats.org/officeDocument/2006/relationships/chart" Target="/ppt/slides/charts/chart10.xml" Id="Rf3c567e31e4c4f85" /><Relationship Type="http://schemas.openxmlformats.org/officeDocument/2006/relationships/notesSlide" Target="/ppt/notesSlides/notesSlide23.xml" Id="Rcbc55c47400b4133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485c432c3847e6" /><Relationship Type="http://schemas.openxmlformats.org/officeDocument/2006/relationships/notesSlide" Target="/ppt/notesSlides/notesSlide24.xml" Id="R904eb98d455a40a9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d0788da2e14ba7" /><Relationship Type="http://schemas.openxmlformats.org/officeDocument/2006/relationships/notesSlide" Target="/ppt/notesSlides/notesSlide25.xml" Id="Rd662c0865d69466a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f5ba2c70614f52" /><Relationship Type="http://schemas.openxmlformats.org/officeDocument/2006/relationships/notesSlide" Target="/ppt/notesSlides/notesSlide26.xml" Id="Rc95c439856b6465e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4d0d62de3f4f97" /><Relationship Type="http://schemas.openxmlformats.org/officeDocument/2006/relationships/notesSlide" Target="/ppt/notesSlides/notesSlide27.xml" Id="R4fd3d363e0044c8c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_rels/chart4.xml.rels><Relationships xmlns="http://schemas.openxmlformats.org/package/2006/relationships"><Relationship Id="rIdChartSnapshot1" Type="http://schemas.openxmlformats.org/officeDocument/2006/relationships/package" Target="../../embeddings/chart-data-snapshot-004.xlsx"/></Relationships>
</file>

<file path=ppt/slides/charts/_rels/chart5.xml.rels><Relationships xmlns="http://schemas.openxmlformats.org/package/2006/relationships"><Relationship Id="rIdChartSnapshot1" Type="http://schemas.openxmlformats.org/officeDocument/2006/relationships/package" Target="../../embeddings/chart-data-snapshot-005.xlsx"/></Relationships>
</file>

<file path=ppt/slides/charts/_rels/chart6.xml.rels><Relationships xmlns="http://schemas.openxmlformats.org/package/2006/relationships"><Relationship Id="rIdChartSnapshot1" Type="http://schemas.openxmlformats.org/officeDocument/2006/relationships/package" Target="../../embeddings/chart-data-snapshot-006.xlsx"/></Relationships>
</file>

<file path=ppt/slides/charts/_rels/chart7.xml.rels><Relationships xmlns="http://schemas.openxmlformats.org/package/2006/relationships"><Relationship Id="rIdChartSnapshot1" Type="http://schemas.openxmlformats.org/officeDocument/2006/relationships/package" Target="../../embeddings/chart-data-snapshot-007.xlsx"/></Relationships>
</file>

<file path=ppt/slides/charts/_rels/chart8.xml.rels><Relationships xmlns="http://schemas.openxmlformats.org/package/2006/relationships"><Relationship Id="rIdChartSnapshot1" Type="http://schemas.openxmlformats.org/officeDocument/2006/relationships/package" Target="../../embeddings/chart-data-snapshot-008.xlsx"/></Relationships>
</file>

<file path=ppt/slides/charts/_rels/chart9.xml.rels><Relationships xmlns="http://schemas.openxmlformats.org/package/2006/relationships"><Relationship Id="rIdChartSnapshot1" Type="http://schemas.openxmlformats.org/officeDocument/2006/relationships/package" Target="../../embeddings/chart-data-snapshot-009.xlsx"/></Relationships>
</file>

<file path=ppt/slides/charts/_rels/chart10.xml.rels><Relationships xmlns="http://schemas.openxmlformats.org/package/2006/relationships"><Relationship Id="rIdChartSnapshot1" Type="http://schemas.openxmlformats.org/officeDocument/2006/relationships/package" Target="../../embeddings/chart-data-snapshot-010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原始题材数</c:v>
          </c:tx>
          <c:spPr>
            <a:solidFill xmlns:a="http://schemas.openxmlformats.org/drawingml/2006/main">
              <a:srgbClr val="D85C41"/>
            </a:solidFill>
          </c:spPr>
          <c:cat>
            <c:strRef>
              <c:f>'Chart Data'!$A$2:$A$4</c:f>
              <c:strCache>
                <c:ptCount val="3"/>
                <c:pt idx="0">
                  <c:v>反复活跃</c:v>
                </c:pt>
                <c:pt idx="1">
                  <c:v>单轮多日</c:v>
                </c:pt>
                <c:pt idx="2">
                  <c:v>仅活跃1日</c:v>
                </c:pt>
              </c:strCache>
            </c:strRef>
          </c:cat>
          <c:val>
            <c:numRef>
              <c:f>'Chart Data'!$B$2:$B$4</c:f>
              <c:numCache>
                <c:formatCode>General</c:formatCode>
                <c:ptCount val="3"/>
                <c:pt idx="0">
                  <c:v>80</c:v>
                </c:pt>
                <c:pt idx="1">
                  <c:v>10</c:v>
                </c:pt>
                <c:pt idx="2">
                  <c:v>47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 b="1">
                  <a:solidFill>
                    <a:srgbClr val="172033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0D5DD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344054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9525">
      <a:solidFill>
        <a:srgbClr val="E3DED4"/>
      </a:solidFill>
    </a:ln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峰值涨停家数</c:v>
          </c:tx>
          <c:spPr>
            <a:solidFill xmlns:a="http://schemas.openxmlformats.org/drawingml/2006/main">
              <a:srgbClr val="D85C41"/>
            </a:solidFill>
          </c:spPr>
          <c:cat>
            <c:strRef>
              <c:f>'Chart Data'!$A$2:$A$4</c:f>
              <c:strCache>
                <c:ptCount val="3"/>
                <c:pt idx="0">
                  <c:v>反复活跃</c:v>
                </c:pt>
                <c:pt idx="1">
                  <c:v>单轮多日</c:v>
                </c:pt>
                <c:pt idx="2">
                  <c:v>一日型</c:v>
                </c:pt>
              </c:strCache>
            </c:strRef>
          </c:cat>
          <c:val>
            <c:numRef>
              <c:f>'Chart Data'!$B$2:$B$4</c:f>
              <c:numCache>
                <c:formatCode>0.0</c:formatCode>
                <c:ptCount val="3"/>
                <c:pt idx="0">
                  <c:v>8</c:v>
                </c:pt>
                <c:pt idx="1">
                  <c:v>7</c:v>
                </c:pt>
                <c:pt idx="2">
                  <c:v>3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 b="1">
                  <a:solidFill>
                    <a:srgbClr val="172033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0D5DD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1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5E2DA"/>
              </a:solidFill>
            </a:ln>
          </c:spPr>
        </c:majorGridlines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9525">
      <a:solidFill>
        <a:srgbClr val="E3DED4"/>
      </a:solidFill>
    </a:ln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峰值最高连板</c:v>
          </c:tx>
          <c:spPr>
            <a:solidFill xmlns:a="http://schemas.openxmlformats.org/drawingml/2006/main">
              <a:srgbClr val="2A9D8F"/>
            </a:solidFill>
          </c:spPr>
          <c:cat>
            <c:strRef>
              <c:f>'Chart Data'!$A$2:$A$4</c:f>
              <c:strCache>
                <c:ptCount val="3"/>
                <c:pt idx="0">
                  <c:v>反复活跃</c:v>
                </c:pt>
                <c:pt idx="1">
                  <c:v>单轮多日</c:v>
                </c:pt>
                <c:pt idx="2">
                  <c:v>一日型</c:v>
                </c:pt>
              </c:strCache>
            </c:strRef>
          </c:cat>
          <c:val>
            <c:numRef>
              <c:f>'Chart Data'!$B$2:$B$4</c:f>
              <c:numCache>
                <c:formatCode>0.0</c:formatCode>
                <c:ptCount val="3"/>
                <c:pt idx="0">
                  <c:v>5</c:v>
                </c:pt>
                <c:pt idx="1">
                  <c:v>3</c:v>
                </c:pt>
                <c:pt idx="2">
                  <c:v>2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 b="1">
                  <a:solidFill>
                    <a:srgbClr val="172033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0D5DD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6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5E2DA"/>
              </a:solidFill>
            </a:ln>
          </c:spPr>
        </c:majorGridlines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9525">
      <a:solidFill>
        <a:srgbClr val="E3DED4"/>
      </a:solidFill>
    </a:ln>
  </c:spPr>
  <c:externalData r:id="rIdChartSnapshot1">
    <c:autoUpdate val="0"/>
  </c:externalData>
</c:chartSpace>
</file>

<file path=ppt/slides/charts/chart4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昨日第一的次日去向</c:v>
          </c:tx>
          <c:spPr>
            <a:solidFill xmlns:a="http://schemas.openxmlformats.org/drawingml/2006/main">
              <a:srgbClr val="D85C41"/>
            </a:solidFill>
          </c:spPr>
          <c:cat>
            <c:strRef>
              <c:f>'Chart Data'!$A$2:$A$4</c:f>
              <c:strCache>
                <c:ptCount val="3"/>
                <c:pt idx="0">
                  <c:v>仍是第一</c:v>
                </c:pt>
                <c:pt idx="1">
                  <c:v>降至第2—5</c:v>
                </c:pt>
                <c:pt idx="2">
                  <c:v>退出前五</c:v>
                </c:pt>
              </c:strCache>
            </c:strRef>
          </c:cat>
          <c:val>
            <c:numRef>
              <c:f>'Chart Data'!$B$2:$B$4</c:f>
              <c:numCache>
                <c:formatCode>General</c:formatCode>
                <c:ptCount val="3"/>
                <c:pt idx="0">
                  <c:v>26.96</c:v>
                </c:pt>
                <c:pt idx="1">
                  <c:v>41.18</c:v>
                </c:pt>
                <c:pt idx="2">
                  <c:v>31.86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 b="1">
                  <a:solidFill>
                    <a:srgbClr val="172033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0D5DD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344054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9525">
      <a:solidFill>
        <a:srgbClr val="E3DED4"/>
      </a:solidFill>
    </a:ln>
  </c:spPr>
  <c:externalData r:id="rIdChartSnapshot1">
    <c:autoUpdate val="0"/>
  </c:externalData>
</c:chartSpace>
</file>

<file path=ppt/slides/charts/chart5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当日第一的来源</c:v>
          </c:tx>
          <c:spPr>
            <a:solidFill xmlns:a="http://schemas.openxmlformats.org/drawingml/2006/main">
              <a:srgbClr val="2A9D8F"/>
            </a:solidFill>
          </c:spPr>
          <c:cat>
            <c:strRef>
              <c:f>'Chart Data'!$A$2:$A$4</c:f>
              <c:strCache>
                <c:ptCount val="3"/>
                <c:pt idx="0">
                  <c:v>昨日第一</c:v>
                </c:pt>
                <c:pt idx="1">
                  <c:v>昨日第2—5</c:v>
                </c:pt>
                <c:pt idx="2">
                  <c:v>昨日前五外</c:v>
                </c:pt>
              </c:strCache>
            </c:strRef>
          </c:cat>
          <c:val>
            <c:numRef>
              <c:f>'Chart Data'!$B$2:$B$4</c:f>
              <c:numCache>
                <c:formatCode>General</c:formatCode>
                <c:ptCount val="3"/>
                <c:pt idx="0">
                  <c:v>26.96</c:v>
                </c:pt>
                <c:pt idx="1">
                  <c:v>37.75</c:v>
                </c:pt>
                <c:pt idx="2">
                  <c:v>35.29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 b="1">
                  <a:solidFill>
                    <a:srgbClr val="172033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0D5DD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344054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9525">
      <a:solidFill>
        <a:srgbClr val="E3DED4"/>
      </a:solidFill>
    </a:ln>
  </c:spPr>
  <c:externalData r:id="rIdChartSnapshot1">
    <c:autoUpdate val="0"/>
  </c:externalData>
</c:chartSpace>
</file>

<file path=ppt/slides/charts/chart6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冻结日后终值收益中位数</c:v>
          </c:tx>
          <c:spPr>
            <a:solidFill xmlns:a="http://schemas.openxmlformats.org/drawingml/2006/main">
              <a:srgbClr val="D85C41"/>
            </a:solidFill>
          </c:spPr>
          <c:cat>
            <c:strRef>
              <c:f>'Chart Data'!$A$2:$A$5</c:f>
              <c:strCache>
                <c:ptCount val="4"/>
                <c:pt idx="0">
                  <c:v>龙1（龙头）</c:v>
                </c:pt>
                <c:pt idx="1">
                  <c:v>龙2</c:v>
                </c:pt>
                <c:pt idx="2">
                  <c:v>龙3</c:v>
                </c:pt>
                <c:pt idx="3">
                  <c:v>后排</c:v>
                </c:pt>
              </c:strCache>
            </c:strRef>
          </c:cat>
          <c:val>
            <c:numRef>
              <c:f>'Chart Data'!$B$2:$B$5</c:f>
              <c:numCache>
                <c:formatCode>General</c:formatCode>
                <c:ptCount val="4"/>
                <c:pt idx="0">
                  <c:v>9.7906</c:v>
                </c:pt>
                <c:pt idx="1">
                  <c:v>5.3461</c:v>
                </c:pt>
                <c:pt idx="2">
                  <c:v>5.6039</c:v>
                </c:pt>
                <c:pt idx="3">
                  <c:v>2.0144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 b="1">
                  <a:solidFill>
                    <a:srgbClr val="172033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0D5DD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344054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9525">
      <a:solidFill>
        <a:srgbClr val="E3DED4"/>
      </a:solidFill>
    </a:ln>
  </c:spPr>
  <c:externalData r:id="rIdChartSnapshot1">
    <c:autoUpdate val="0"/>
  </c:externalData>
</c:chartSpace>
</file>

<file path=ppt/slides/charts/chart7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最大回撤中位数（绝对值）</c:v>
          </c:tx>
          <c:spPr>
            <a:solidFill xmlns:a="http://schemas.openxmlformats.org/drawingml/2006/main">
              <a:srgbClr val="2A9D8F"/>
            </a:solidFill>
          </c:spPr>
          <c:cat>
            <c:strRef>
              <c:f>'Chart Data'!$A$2:$A$5</c:f>
              <c:strCache>
                <c:ptCount val="4"/>
                <c:pt idx="0">
                  <c:v>龙1（龙头）</c:v>
                </c:pt>
                <c:pt idx="1">
                  <c:v>龙2</c:v>
                </c:pt>
                <c:pt idx="2">
                  <c:v>龙3</c:v>
                </c:pt>
                <c:pt idx="3">
                  <c:v>后排</c:v>
                </c:pt>
              </c:strCache>
            </c:strRef>
          </c:cat>
          <c:val>
            <c:numRef>
              <c:f>'Chart Data'!$B$2:$B$5</c:f>
              <c:numCache>
                <c:formatCode>General</c:formatCode>
                <c:ptCount val="4"/>
                <c:pt idx="0">
                  <c:v>1.7241</c:v>
                </c:pt>
                <c:pt idx="1">
                  <c:v>2.5273</c:v>
                </c:pt>
                <c:pt idx="2">
                  <c:v>2.2328</c:v>
                </c:pt>
                <c:pt idx="3">
                  <c:v>4.1027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 b="1">
                  <a:solidFill>
                    <a:srgbClr val="172033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0D5DD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344054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9525">
      <a:solidFill>
        <a:srgbClr val="E3DED4"/>
      </a:solidFill>
    </a:ln>
  </c:spPr>
  <c:externalData r:id="rIdChartSnapshot1">
    <c:autoUpdate val="0"/>
  </c:externalData>
</c:chartSpace>
</file>

<file path=ppt/slides/charts/chart8.xml><?xml version="1.0" encoding="utf-8"?>
<c:chartSpace xmlns:c="http://schemas.openxmlformats.org/drawingml/2006/chart" xmlns:r="http://schemas.openxmlformats.org/officeDocument/2006/relationships">
  <c:lang val="en-US"/>
  <c:chart>
    <c:plotArea>
      <c:doughnutChart>
        <c:ser>
          <c:idx val="0"/>
          <c:order val="0"/>
          <c:tx>
            <c:v>407个冻结行情段</c:v>
          </c:tx>
          <c:dPt>
            <c:idx val="0"/>
            <c:spPr>
              <a:solidFill xmlns:a="http://schemas.openxmlformats.org/drawingml/2006/main">
                <a:srgbClr val="D85C41"/>
              </a:solidFill>
            </c:spPr>
          </c:dPt>
          <c:dPt>
            <c:idx val="1"/>
            <c:spPr>
              <a:solidFill xmlns:a="http://schemas.openxmlformats.org/drawingml/2006/main">
                <a:srgbClr val="E9C46A"/>
              </a:solidFill>
            </c:spPr>
          </c:dPt>
          <c:dPt>
            <c:idx val="2"/>
            <c:spPr>
              <a:solidFill xmlns:a="http://schemas.openxmlformats.org/drawingml/2006/main">
                <a:srgbClr val="2A9D8F"/>
              </a:solidFill>
            </c:spPr>
          </c:dPt>
          <c:dPt>
            <c:idx val="3"/>
            <c:spPr>
              <a:solidFill xmlns:a="http://schemas.openxmlformats.org/drawingml/2006/main">
                <a:srgbClr val="4777B8"/>
              </a:solidFill>
            </c:spPr>
          </c:dPt>
          <c:cat>
            <c:strRef>
              <c:f>'Chart Data'!$A$2:$A$5</c:f>
              <c:strCache>
                <c:ptCount val="4"/>
                <c:pt idx="0">
                  <c:v>冻结龙1</c:v>
                </c:pt>
                <c:pt idx="1">
                  <c:v>冻结龙2/3</c:v>
                </c:pt>
                <c:pt idx="2">
                  <c:v>冻结后排</c:v>
                </c:pt>
                <c:pt idx="3">
                  <c:v>冻结名单外</c:v>
                </c:pt>
              </c:strCache>
            </c:strRef>
          </c:cat>
          <c:val>
            <c:numRef>
              <c:f>'Chart Data'!$B$2:$B$5</c:f>
              <c:numCache>
                <c:formatCode>General</c:formatCode>
                <c:ptCount val="4"/>
                <c:pt idx="0">
                  <c:v>229</c:v>
                </c:pt>
                <c:pt idx="1">
                  <c:v>73</c:v>
                </c:pt>
                <c:pt idx="2">
                  <c:v>43</c:v>
                </c:pt>
                <c:pt idx="3">
                  <c:v>62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 b="1">
                  <a:solidFill>
                    <a:srgbClr val="172033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  <c:showLegendKey val="0"/>
          <c:showVal val="0"/>
          <c:showCatName val="0"/>
          <c:showSerName val="0"/>
          <c:showPercent val="1"/>
          <c:showBubbleSize val="0"/>
          <c:showLeaderLines val="0"/>
        </c:dLbls>
        <c:holeSize val="58"/>
      </c:doughnutChart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00">
              <a:solidFill>
                <a:srgbClr val="667085"/>
              </a:solidFill>
              <a:latin typeface="Microsoft YaHei"/>
              <a:ea typeface="Microsoft YaHei"/>
              <a:cs typeface="Microsoft YaHei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9525">
      <a:solidFill>
        <a:srgbClr val="E3DED4"/>
      </a:solidFill>
    </a:ln>
  </c:spPr>
  <c:externalData r:id="rIdChartSnapshot1">
    <c:autoUpdate val="0"/>
  </c:externalData>
</c:chartSpace>
</file>

<file path=ppt/slides/charts/chart9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题材—股票组合数</c:v>
          </c:tx>
          <c:spPr>
            <a:solidFill xmlns:a="http://schemas.openxmlformats.org/drawingml/2006/main">
              <a:srgbClr val="2A9D8F"/>
            </a:solidFill>
          </c:spPr>
          <c:cat>
            <c:strRef>
              <c:f>'Chart Data'!$A$2:$A$4</c:f>
              <c:strCache>
                <c:ptCount val="3"/>
                <c:pt idx="0">
                  <c:v>始终是龙1</c:v>
                </c:pt>
                <c:pt idx="1">
                  <c:v>做过龙1且发生换位</c:v>
                </c:pt>
                <c:pt idx="2">
                  <c:v>始终只在龙2/3</c:v>
                </c:pt>
              </c:strCache>
            </c:strRef>
          </c:cat>
          <c:val>
            <c:numRef>
              <c:f>'Chart Data'!$B$2:$B$4</c:f>
              <c:numCache>
                <c:formatCode>General</c:formatCode>
                <c:ptCount val="3"/>
                <c:pt idx="0">
                  <c:v>64</c:v>
                </c:pt>
                <c:pt idx="1">
                  <c:v>181</c:v>
                </c:pt>
                <c:pt idx="2">
                  <c:v>130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 b="1">
                  <a:solidFill>
                    <a:srgbClr val="172033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0D5DD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344054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9525">
      <a:solidFill>
        <a:srgbClr val="E3DED4"/>
      </a:solidFill>
    </a:ln>
  </c:spPr>
  <c:externalData r:id="rIdChartSnapshot1">
    <c:autoUpdate val="0"/>
  </c:externalData>
</c:chartSpace>
</file>

<file path=ppt/slides/charts/chart10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次日题材仍活跃</c:v>
          </c:tx>
          <c:spPr>
            <a:solidFill xmlns:a="http://schemas.openxmlformats.org/drawingml/2006/main">
              <a:srgbClr val="D85C41"/>
            </a:solidFill>
          </c:spPr>
          <c:cat>
            <c:strRef>
              <c:f>'Chart Data'!$A$2:$A$4</c:f>
              <c:strCache>
                <c:ptCount val="3"/>
                <c:pt idx="0">
                  <c:v>strong</c:v>
                </c:pt>
                <c:pt idx="1">
                  <c:v>holding</c:v>
                </c:pt>
                <c:pt idx="2">
                  <c:v>weak</c:v>
                </c:pt>
              </c:strCache>
            </c:strRef>
          </c:cat>
          <c:val>
            <c:numRef>
              <c:f>'Chart Data'!$B$2:$B$4</c:f>
              <c:numCache>
                <c:formatCode>0.0</c:formatCode>
                <c:ptCount val="3"/>
                <c:pt idx="0">
                  <c:v>60.55</c:v>
                </c:pt>
                <c:pt idx="1">
                  <c:v>52</c:v>
                </c:pt>
                <c:pt idx="2">
                  <c:v>67.86</c:v>
                </c:pt>
              </c:numCache>
            </c:numRef>
          </c:val>
        </c:ser>
        <c:ser>
          <c:idx val="1"/>
          <c:order val="1"/>
          <c:tx>
            <c:v>冻结龙1次日上涨</c:v>
          </c:tx>
          <c:spPr>
            <a:solidFill xmlns:a="http://schemas.openxmlformats.org/drawingml/2006/main">
              <a:srgbClr val="2A9D8F"/>
            </a:solidFill>
          </c:spPr>
          <c:cat>
            <c:strRef>
              <c:f>'Chart Data'!$C$2:$C$4</c:f>
              <c:strCache>
                <c:ptCount val="3"/>
                <c:pt idx="0">
                  <c:v>strong</c:v>
                </c:pt>
                <c:pt idx="1">
                  <c:v>holding</c:v>
                </c:pt>
                <c:pt idx="2">
                  <c:v>weak</c:v>
                </c:pt>
              </c:strCache>
            </c:strRef>
          </c:cat>
          <c:val>
            <c:numRef>
              <c:f>'Chart Data'!$D$2:$D$4</c:f>
              <c:numCache>
                <c:formatCode>0.0</c:formatCode>
                <c:ptCount val="3"/>
                <c:pt idx="0">
                  <c:v>58.72</c:v>
                </c:pt>
                <c:pt idx="1">
                  <c:v>58</c:v>
                </c:pt>
                <c:pt idx="2">
                  <c:v>54.76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 b="1">
                  <a:solidFill>
                    <a:srgbClr val="172033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0D5DD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8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5E2DA"/>
              </a:solidFill>
            </a:ln>
          </c:spPr>
        </c:majorGridlines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00">
              <a:solidFill>
                <a:srgbClr val="667085"/>
              </a:solidFill>
              <a:latin typeface="Microsoft YaHei"/>
              <a:ea typeface="Microsoft YaHei"/>
              <a:cs typeface="Microsoft YaHei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9525">
      <a:solidFill>
        <a:srgbClr val="E3DED4"/>
      </a:solidFill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4213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AFE60B-D690-417A-A2A8-1F008B945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5C4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530C62-3B68-43D3-9158-A658765E1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66750"/>
            <a:ext cx="14097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D85C4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F1B513-6ACF-43CB-B97A-D83221106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85800"/>
            <a:ext cx="1219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研究报告 v0.2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C070F9-5D64-4269-B2FF-0957BB62C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390650"/>
            <a:ext cx="8667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A股题材生命周期</a:t>
            </a:r>
          </a:p>
          <a:p xmlns:a="http://schemas.openxmlformats.org/drawingml/2006/main">
            <a:pPr algn="l">
              <a:defRPr sz="4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与龙位更替研究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31512B-122A-429A-BA8E-A468AC3B9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90900"/>
            <a:ext cx="895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CE3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DCE3F0"/>
                </a:solidFill>
                <a:latin typeface="Microsoft YaHei"/>
                <a:ea typeface="Microsoft YaHei"/>
                <a:cs typeface="Microsoft YaHei"/>
              </a:rPr>
              <a:t>2025-10-30 至 2026-08-31｜开盘啦涨停题材｜描述性研究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FA3CD7-A627-4C1F-B39C-39DEE6C6B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9575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17D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49409A-302A-4E9B-A88B-185735433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419600"/>
            <a:ext cx="9334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E9C4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E9C46A"/>
                </a:solidFill>
                <a:latin typeface="Microsoft YaHei"/>
                <a:ea typeface="Microsoft YaHei"/>
                <a:cs typeface="Microsoft YaHei"/>
              </a:rPr>
              <a:t>研究题材如何活跃、退潮、再活跃，以及龙1、龙2、龙3在一段内和跨段如何更替。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25650D-98E0-48EA-B156-ED7E22E89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943600"/>
            <a:ext cx="685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B8C2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B8C2D8"/>
                </a:solidFill>
                <a:latin typeface="Microsoft YaHei"/>
                <a:ea typeface="Microsoft YaHei"/>
                <a:cs typeface="Microsoft YaHei"/>
              </a:rPr>
              <a:t>205 个交易日 · 137 个活跃原始题材 · 793 段行情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C8DB76-FAEA-46DD-8A3C-840674F84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115050"/>
            <a:ext cx="60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E9C4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E9C46A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24751764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1A13567-5270-4B0D-9155-581E35B35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5C4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CBE8B4-4A51-496A-A857-B54C3ADF4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85C4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D85C41"/>
                </a:solidFill>
                <a:latin typeface="Microsoft YaHei"/>
                <a:ea typeface="Microsoft YaHei"/>
                <a:cs typeface="Microsoft YaHei"/>
              </a:rPr>
              <a:t>研究框架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D22A6F-F531-45B8-9AB0-F786C8AE1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rPr>
              <a:t>先建立事实地图，再讨论交易规则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06C153-A66E-478C-8AC9-A903247F9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432C39-D2B4-4B43-B70F-975AF6AA0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2025-10-30 — 2026-08-31  ·  描述性研究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E06C2E-F868-45E7-B936-B6E199810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032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D85C4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D85C41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05CBB0-9AB1-4D0A-86BC-7837D51A7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33550"/>
            <a:ext cx="2381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7E4DE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21EB16-7BB7-44B1-B108-23EB1903B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905000"/>
            <a:ext cx="2038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611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rPr>
              <a:t>题材层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295A81-74C0-42D2-BF48-85CCABDE3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81250"/>
            <a:ext cx="20383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440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344054"/>
                </a:solidFill>
                <a:latin typeface="Microsoft YaHei"/>
                <a:ea typeface="Microsoft YaHei"/>
                <a:cs typeface="Microsoft YaHei"/>
              </a:rPr>
              <a:t>活跃、退潮、反复</a:t>
            </a:r>
          </a:p>
          <a:p xmlns:a="http://schemas.openxmlformats.org/drawingml/2006/main">
            <a:pPr algn="l">
              <a:defRPr sz="1200" b="0">
                <a:solidFill>
                  <a:srgbClr val="3440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344054"/>
                </a:solidFill>
                <a:latin typeface="Microsoft YaHei"/>
                <a:ea typeface="Microsoft YaHei"/>
                <a:cs typeface="Microsoft YaHei"/>
              </a:rPr>
              <a:t>每日前五与交接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908598-5A8A-4633-BD52-F3A70D476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733550"/>
            <a:ext cx="2381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7EAC5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1B8736-BC6A-4071-88A2-44EAFB7F3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1905000"/>
            <a:ext cx="2038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611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rPr>
              <a:t>龙位层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F909CB-B32C-4505-BDCE-482D77307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381250"/>
            <a:ext cx="20383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440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344054"/>
                </a:solidFill>
                <a:latin typeface="Microsoft YaHei"/>
                <a:ea typeface="Microsoft YaHei"/>
                <a:cs typeface="Microsoft YaHei"/>
              </a:rPr>
              <a:t>龙1/2/3与后排</a:t>
            </a:r>
          </a:p>
          <a:p xmlns:a="http://schemas.openxmlformats.org/drawingml/2006/main">
            <a:pPr algn="l">
              <a:defRPr sz="1200" b="0">
                <a:solidFill>
                  <a:srgbClr val="3440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344054"/>
                </a:solidFill>
                <a:latin typeface="Microsoft YaHei"/>
                <a:ea typeface="Microsoft YaHei"/>
                <a:cs typeface="Microsoft YaHei"/>
              </a:rPr>
              <a:t>段内、跨段换位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6DF052-DE23-48CD-B17A-251B128F5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733550"/>
            <a:ext cx="2381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DDEFEA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38F7E02-6944-4A2C-B33A-4BDDCD65E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905000"/>
            <a:ext cx="2038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611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rPr>
              <a:t>容量层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9D08FD0-2BB2-4A87-9144-AEBAD0D13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381250"/>
            <a:ext cx="20383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440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344054"/>
                </a:solidFill>
                <a:latin typeface="Microsoft YaHei"/>
                <a:ea typeface="Microsoft YaHei"/>
                <a:cs typeface="Microsoft YaHei"/>
              </a:rPr>
              <a:t>中军识别与状态</a:t>
            </a:r>
          </a:p>
          <a:p xmlns:a="http://schemas.openxmlformats.org/drawingml/2006/main">
            <a:pPr algn="l">
              <a:defRPr sz="1200" b="0">
                <a:solidFill>
                  <a:srgbClr val="3440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344054"/>
                </a:solidFill>
                <a:latin typeface="Microsoft YaHei"/>
                <a:ea typeface="Microsoft YaHei"/>
                <a:cs typeface="Microsoft YaHei"/>
              </a:rPr>
              <a:t>作为背景变量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294CB89-2125-4A39-8C15-B06D4813B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1733550"/>
            <a:ext cx="2381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EAEFF5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1F56634-5B01-4894-9881-0CB242E16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1905000"/>
            <a:ext cx="2038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611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rPr>
              <a:t>收益层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71F5A68-7C50-4B90-B28C-6A15E33FC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381250"/>
            <a:ext cx="20383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440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344054"/>
                </a:solidFill>
                <a:latin typeface="Microsoft YaHei"/>
                <a:ea typeface="Microsoft YaHei"/>
                <a:cs typeface="Microsoft YaHei"/>
              </a:rPr>
              <a:t>纯前瞻、区间路径</a:t>
            </a:r>
          </a:p>
          <a:p xmlns:a="http://schemas.openxmlformats.org/drawingml/2006/main">
            <a:pPr algn="l">
              <a:defRPr sz="1200" b="0">
                <a:solidFill>
                  <a:srgbClr val="3440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344054"/>
                </a:solidFill>
                <a:latin typeface="Microsoft YaHei"/>
                <a:ea typeface="Microsoft YaHei"/>
                <a:cs typeface="Microsoft YaHei"/>
              </a:rPr>
              <a:t>极端边界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5E65FD1-A47E-4B40-8588-FD616FED9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62350"/>
            <a:ext cx="106680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4213D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79CC8BB-5749-4D92-AC22-A2523EADA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57600"/>
            <a:ext cx="10363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核心龙骨：板块 → 资金流 → 个股。当前报告只回答历史结构，不把描述性结果直接变成买卖信号。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CDC40F4-CC4A-4821-86F0-C878A9741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910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D85C4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D85C41"/>
                </a:solidFill>
                <a:latin typeface="Microsoft YaHei"/>
                <a:ea typeface="Microsoft YaHei"/>
                <a:cs typeface="Microsoft YaHei"/>
              </a:rPr>
              <a:t>本轮新增的两个专题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027E3C3-9373-47C4-9474-1B1714D94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91100"/>
            <a:ext cx="10287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① 反复题材：退潮后旧龙还在不在、新龙从哪里来</a:t>
            </a:r>
          </a:p>
          <a:p xmlns:a="http://schemas.openxmlformats.org/drawingml/2006/main">
            <a:pPr algn="l">
              <a:defRPr sz="17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② 单轮多日：从 T 日起，龙1能否守位、龙2/3能否接力</a:t>
            </a:r>
          </a:p>
        </p:txBody>
      </p:sp>
    </p:spTree>
    <p:extLst>
      <p:ext uri="{BB962C8B-B14F-4D97-AF65-F5344CB8AC3E}">
        <p14:creationId xmlns:p14="http://schemas.microsoft.com/office/powerpoint/2010/main" val="212527887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A6BD038-EB60-4465-8A55-BC16C4477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5C4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BDF129-8DDC-4443-973F-CD66D3A10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85C4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D85C41"/>
                </a:solidFill>
                <a:latin typeface="Microsoft YaHei"/>
                <a:ea typeface="Microsoft YaHei"/>
                <a:cs typeface="Microsoft YaHei"/>
              </a:rPr>
              <a:t>研究边界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6312A8-AF6F-4935-90FF-559A1E521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rPr>
              <a:t>数据基准：开盘啦题材，2025-10-30 至 2026-08-31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C0DBE1-9AA0-4F2A-AE07-8E78DFCAF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95E65B-EFE3-4DA3-A748-03F3FB523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2025-10-30 — 2026-08-31  ·  描述性研究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DB61D2-0016-495A-B3B1-0AB6D45F2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032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D85C4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D85C41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316DB1-63B8-48A4-8B97-366FA9A54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85900"/>
            <a:ext cx="23812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DED4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5E1524-4CAF-4D8D-BF5B-8B2FDF999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38300"/>
            <a:ext cx="2038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518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D85C4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D85C41"/>
                </a:solidFill>
                <a:latin typeface="Microsoft YaHei"/>
                <a:ea typeface="Microsoft YaHei"/>
                <a:cs typeface="Microsoft YaHei"/>
              </a:rPr>
              <a:t>205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773FA3-9E12-430C-8C9B-CA52A7057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133600"/>
            <a:ext cx="2038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交易日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F0E464-9CDF-49F5-932B-D8B9BF1C3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19350"/>
            <a:ext cx="203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逐日涨停/炸板题材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582A52-36EB-4622-A8B1-D121EAFAC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1485900"/>
            <a:ext cx="23812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DED4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01ED94-E27E-4679-8B67-8FE09AEBC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1638300"/>
            <a:ext cx="2038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518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A9D8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2A9D8F"/>
                </a:solidFill>
                <a:latin typeface="Microsoft YaHei"/>
                <a:ea typeface="Microsoft YaHei"/>
                <a:cs typeface="Microsoft YaHei"/>
              </a:rPr>
              <a:t>19,716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88B2126-2295-4F9E-8866-1B29F3C8A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133600"/>
            <a:ext cx="2038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合格记录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116E61-1D65-40E5-9E43-67FC89A60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419350"/>
            <a:ext cx="203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SH/SZ；排除北交所与ST前缀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8C200FA-0231-4856-ABAC-3BFD09F4F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1485900"/>
            <a:ext cx="23812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DED4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E7D63CE-994D-42CD-9F2B-21681E82E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1638300"/>
            <a:ext cx="2038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518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4777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4777B8"/>
                </a:solidFill>
                <a:latin typeface="Microsoft YaHei"/>
                <a:ea typeface="Microsoft YaHei"/>
                <a:cs typeface="Microsoft YaHei"/>
              </a:rPr>
              <a:t>137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1D29ACB-55DD-461E-AD85-7ACCE10F8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133600"/>
            <a:ext cx="2038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活跃原始题材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0D9897C-6DCB-4BDE-8AF3-278DB4846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419350"/>
            <a:ext cx="203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题材标签不主动归并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18405E7-6DFB-423F-B561-DF5660AD0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485900"/>
            <a:ext cx="23812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DED4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A9FF53A-AC17-47B0-B92F-E75C5C406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1638300"/>
            <a:ext cx="2038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518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E9C4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E9C46A"/>
                </a:solidFill>
                <a:latin typeface="Microsoft YaHei"/>
                <a:ea typeface="Microsoft YaHei"/>
                <a:cs typeface="Microsoft YaHei"/>
              </a:rPr>
              <a:t>793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02EC2F1-37F5-4B14-B295-742C584A8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133600"/>
            <a:ext cx="2038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行情段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F09848E-C2CF-415A-A81D-E76ACCA95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419350"/>
            <a:ext cx="203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退潮后再活跃视为新段</a:t>
            </a:r>
          </a:p>
        </p:txBody>
      </p:sp>
      <p:graphicFrame>
        <p:nvGraphicFramePr>
          <p:cNvPr id="46" name=""/>
          <p:cNvGraphicFramePr/>
          <p:nvPr/>
        </p:nvGraphicFramePr>
        <p:xfrm>
          <a:off xmlns:a="http://schemas.openxmlformats.org/drawingml/2006/main" x="723900" y="3086100"/>
          <a:ext xmlns:a="http://schemas.openxmlformats.org/drawingml/2006/main" cx="10668000" cy="2571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619250"/>
                <a:gridCol w="4762500"/>
                <a:gridCol w="4286250"/>
              </a:tblGrid>
              <a:tr h="514350"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对象</a:t>
                      </a:r>
                    </a:p>
                  </a:txBody>
                  <a:tcPr marL="76200" marR="76200" marT="47625" marB="47625"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冻结口径</a:t>
                      </a:r>
                    </a:p>
                  </a:txBody>
                  <a:tcPr marL="76200" marR="76200" marT="47625" marB="47625"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限制</a:t>
                      </a:r>
                    </a:p>
                  </a:txBody>
                  <a:tcPr marL="76200" marR="76200" marT="47625" marB="47625">
                    <a:solidFill>
                      <a:srgbClr val="14213D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720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题材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720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开盘啦 lu_desc 原始标签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720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不是同花顺；未做新闻归因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720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活跃日</a:t>
                      </a:r>
                    </a:p>
                  </a:txBody>
                  <a:tcPr marL="76200" marR="76200" marT="38100" marB="38100">
                    <a:solidFill>
                      <a:srgbClr val="F1EE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720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≥3个封板；或≥2个且至少1个连板</a:t>
                      </a:r>
                    </a:p>
                  </a:txBody>
                  <a:tcPr marL="76200" marR="76200" marT="38100" marB="38100">
                    <a:solidFill>
                      <a:srgbClr val="F1EE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720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高度不能单独压过宽度</a:t>
                      </a:r>
                    </a:p>
                  </a:txBody>
                  <a:tcPr marL="76200" marR="76200" marT="38100" marB="38100">
                    <a:solidFill>
                      <a:srgbClr val="F1EEE6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720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行情段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720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退潮后重新活跃即新一段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720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同名题材可有多段、不同催化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720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个股</a:t>
                      </a:r>
                    </a:p>
                  </a:txBody>
                  <a:tcPr marL="76200" marR="76200" marT="38100" marB="38100">
                    <a:solidFill>
                      <a:srgbClr val="F1EE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720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SH/SZ、排除ST/异常交易所</a:t>
                      </a:r>
                    </a:p>
                  </a:txBody>
                  <a:tcPr marL="76200" marR="76200" marT="38100" marB="38100">
                    <a:solidFill>
                      <a:srgbClr val="F1EE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720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角色依赖当日题材精确映射</a:t>
                      </a:r>
                    </a:p>
                  </a:txBody>
                  <a:tcPr marL="76200" marR="76200" marT="38100" marB="38100">
                    <a:solidFill>
                      <a:srgbClr val="F1EEE6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6609065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9746FFE-AA20-4C18-AFBC-FB45CD20A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5C4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E7F935-B80C-4B2E-B64A-024FF524D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85C4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D85C41"/>
                </a:solidFill>
                <a:latin typeface="Microsoft YaHei"/>
                <a:ea typeface="Microsoft YaHei"/>
                <a:cs typeface="Microsoft YaHei"/>
              </a:rPr>
              <a:t>龙位定义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EFB735-C9EC-4EA9-A87B-8AE5132E2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rPr>
              <a:t>三个时间钟：龙位必须说明“在哪一天认定”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F62DB6-85D7-4F47-8433-8DEBF716D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FD8EF1-6565-47C1-97D1-2CD554A9E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2025-10-30 — 2026-08-31  ·  描述性研究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3FECBA-6705-4035-A1A0-F8E3738DC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032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D85C4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D85C41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graphicFrame>
        <p:nvGraphicFramePr>
          <p:cNvPr id="20" name=""/>
          <p:cNvGraphicFramePr/>
          <p:nvPr/>
        </p:nvGraphicFramePr>
        <p:xfrm>
          <a:off xmlns:a="http://schemas.openxmlformats.org/drawingml/2006/main" x="723900" y="1543050"/>
          <a:ext xmlns:a="http://schemas.openxmlformats.org/drawingml/2006/main" cx="5810250" cy="21717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428750"/>
                <a:gridCol w="2476500"/>
                <a:gridCol w="1905000"/>
              </a:tblGrid>
              <a:tr h="542925"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时间钟</a:t>
                      </a:r>
                    </a:p>
                  </a:txBody>
                  <a:tcPr marL="76200" marR="76200" marT="47625" marB="47625"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用于回答</a:t>
                      </a:r>
                    </a:p>
                  </a:txBody>
                  <a:tcPr marL="76200" marR="76200" marT="47625" marB="47625"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角色生成</a:t>
                      </a:r>
                    </a:p>
                  </a:txBody>
                  <a:tcPr marL="76200" marR="76200" marT="47625" marB="47625">
                    <a:solidFill>
                      <a:srgbClr val="14213D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720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冻结龙位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720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当时能否识别、后续表现如何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720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首次进入展示集合日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720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段首龙位</a:t>
                      </a:r>
                    </a:p>
                  </a:txBody>
                  <a:tcPr marL="76200" marR="76200" marT="38100" marB="38100">
                    <a:solidFill>
                      <a:srgbClr val="F1EE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720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反复题材跨段是否换龙</a:t>
                      </a:r>
                    </a:p>
                  </a:txBody>
                  <a:tcPr marL="76200" marR="76200" marT="38100" marB="38100">
                    <a:solidFill>
                      <a:srgbClr val="F1EE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720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每段开始日</a:t>
                      </a:r>
                    </a:p>
                  </a:txBody>
                  <a:tcPr marL="76200" marR="76200" marT="38100" marB="38100">
                    <a:solidFill>
                      <a:srgbClr val="F1EEE6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720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当日龙位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720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单轮多日 t−T 如何换位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720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每个交易日重排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56DC5F-F599-4D61-B26F-42A9DE96D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1543050"/>
            <a:ext cx="4495800" cy="2171700"/>
          </a:xfrm>
          <a:prstGeom xmlns:a="http://schemas.openxmlformats.org/drawingml/2006/main" prst="roundRect">
            <a:avLst>
              <a:gd name="adj" fmla="val 3509"/>
            </a:avLst>
          </a:prstGeom>
          <a:solidFill xmlns:a="http://schemas.openxmlformats.org/drawingml/2006/main">
            <a:srgbClr val="DDEFEA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86CE87-1EF6-41C2-AFDF-138F6E9E4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167640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rPr>
              <a:t>龙1（龙头）/ 龙2 / 龙3排序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691601-3223-4B4C-B54C-DB375FFA2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095500"/>
            <a:ext cx="40005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440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344054"/>
                </a:solidFill>
                <a:latin typeface="Microsoft YaHei"/>
                <a:ea typeface="Microsoft YaHei"/>
                <a:cs typeface="Microsoft YaHei"/>
              </a:rPr>
              <a:t>1. 连板高度降序（缺失最后）</a:t>
            </a:r>
          </a:p>
          <a:p xmlns:a="http://schemas.openxmlformats.org/drawingml/2006/main">
            <a:pPr algn="l">
              <a:defRPr sz="1200" b="0">
                <a:solidFill>
                  <a:srgbClr val="3440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344054"/>
                </a:solidFill>
                <a:latin typeface="Microsoft YaHei"/>
                <a:ea typeface="Microsoft YaHei"/>
                <a:cs typeface="Microsoft YaHei"/>
              </a:rPr>
              <a:t>2. 封住涨停优先于炸板</a:t>
            </a:r>
          </a:p>
          <a:p xmlns:a="http://schemas.openxmlformats.org/drawingml/2006/main">
            <a:pPr algn="l">
              <a:defRPr sz="1200" b="0">
                <a:solidFill>
                  <a:srgbClr val="3440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344054"/>
                </a:solidFill>
                <a:latin typeface="Microsoft YaHei"/>
                <a:ea typeface="Microsoft YaHei"/>
                <a:cs typeface="Microsoft YaHei"/>
              </a:rPr>
              <a:t>3. 封板时间升序（缺失最后）</a:t>
            </a:r>
          </a:p>
          <a:p xmlns:a="http://schemas.openxmlformats.org/drawingml/2006/main">
            <a:pPr algn="l">
              <a:defRPr sz="1200" b="0">
                <a:solidFill>
                  <a:srgbClr val="3440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344054"/>
                </a:solidFill>
                <a:latin typeface="Microsoft YaHei"/>
                <a:ea typeface="Microsoft YaHei"/>
                <a:cs typeface="Microsoft YaHei"/>
              </a:rPr>
              <a:t>4. 封单金额降序</a:t>
            </a:r>
          </a:p>
          <a:p xmlns:a="http://schemas.openxmlformats.org/drawingml/2006/main">
            <a:pPr algn="l">
              <a:defRPr sz="1200" b="0">
                <a:solidFill>
                  <a:srgbClr val="3440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344054"/>
                </a:solidFill>
                <a:latin typeface="Microsoft YaHei"/>
                <a:ea typeface="Microsoft YaHei"/>
                <a:cs typeface="Microsoft YaHei"/>
              </a:rPr>
              <a:t>5. 成交额降序</a:t>
            </a:r>
          </a:p>
          <a:p xmlns:a="http://schemas.openxmlformats.org/drawingml/2006/main">
            <a:pPr algn="l">
              <a:defRPr sz="1200" b="0">
                <a:solidFill>
                  <a:srgbClr val="3440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344054"/>
                </a:solidFill>
                <a:latin typeface="Microsoft YaHei"/>
                <a:ea typeface="Microsoft YaHei"/>
                <a:cs typeface="Microsoft YaHei"/>
              </a:rPr>
              <a:t>6. 股票代码升序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3842DB-7BED-4309-845C-F0A59A06F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95750"/>
            <a:ext cx="10668000" cy="1390650"/>
          </a:xfrm>
          <a:prstGeom xmlns:a="http://schemas.openxmlformats.org/drawingml/2006/main" prst="roundRect">
            <a:avLst>
              <a:gd name="adj" fmla="val 5479"/>
            </a:avLst>
          </a:prstGeom>
          <a:solidFill xmlns:a="http://schemas.openxmlformats.org/drawingml/2006/main">
            <a:srgbClr val="F7E4DE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5995FB-6BE9-4E6E-8681-F1C640050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2910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D85C4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D85C41"/>
                </a:solidFill>
                <a:latin typeface="Microsoft YaHei"/>
                <a:ea typeface="Microsoft YaHei"/>
                <a:cs typeface="Microsoft YaHei"/>
              </a:rPr>
              <a:t>“实现龙头”是什么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A282FCE-80AA-4E14-AD43-D29D9C233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610100"/>
            <a:ext cx="10191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440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44054"/>
                </a:solidFill>
                <a:latin typeface="Microsoft YaHei"/>
                <a:ea typeface="Microsoft YaHei"/>
                <a:cs typeface="Microsoft YaHei"/>
              </a:rPr>
              <a:t>完整行情段结束后，按最高连板 → 段内累计峰值收益 → 最早达到最高板日期 → 当日最早封板 → 股票代码选出的后视镜代表股。它用于解释“最后谁走出来”，不替换当时冻结的龙位。</a:t>
            </a:r>
          </a:p>
        </p:txBody>
      </p:sp>
    </p:spTree>
    <p:extLst>
      <p:ext uri="{BB962C8B-B14F-4D97-AF65-F5344CB8AC3E}">
        <p14:creationId xmlns:p14="http://schemas.microsoft.com/office/powerpoint/2010/main" val="79490645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A2CBB71-FA80-40B6-A4E1-63215C637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5C4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AC7927-C10C-40C7-BC56-CB5774106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85C4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D85C41"/>
                </a:solidFill>
                <a:latin typeface="Microsoft YaHei"/>
                <a:ea typeface="Microsoft YaHei"/>
                <a:cs typeface="Microsoft YaHei"/>
              </a:rPr>
              <a:t>题材母体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1EFDA3-00F6-4D4A-AED8-404B43E4D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rPr>
              <a:t>机会母体：多数活跃题材会回来，但不是连续上涨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0FEDD6-B939-4619-8CA3-C6B890EDC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43ABE0-B2E3-4A4E-ADF7-D3D8EB50C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2025-10-30 — 2026-08-31  ·  描述性研究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0C6604-1C04-43B7-8007-DD04BECA8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032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D85C4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D85C41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graphicFrame>
        <p:nvGraphicFramePr>
          <p:cNvPr id="24" name="Chart"/>
          <p:cNvGraphicFramePr/>
          <p:nvPr/>
        </p:nvGraphicFramePr>
        <p:xfrm>
          <a:off xmlns:a="http://schemas.openxmlformats.org/drawingml/2006/main" x="723900" y="1600200"/>
          <a:ext xmlns:a="http://schemas.openxmlformats.org/drawingml/2006/main" cx="6858000" cy="3714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ed8ad1233f749c7"/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A09D07-10E2-4CCE-9B3E-8E0134AA9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695450"/>
            <a:ext cx="30480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DED4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F9E6FF-65D5-4F6C-83C9-FFA2C996E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847850"/>
            <a:ext cx="27051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518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D85C4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D85C41"/>
                </a:solidFill>
                <a:latin typeface="Microsoft YaHei"/>
                <a:ea typeface="Microsoft YaHei"/>
                <a:cs typeface="Microsoft YaHei"/>
              </a:rPr>
              <a:t>80 / 137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722FFD-31F2-4A8C-AD9D-367FE4B65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343150"/>
            <a:ext cx="2705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退潮后再次活跃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1CC651-7247-4FC3-AB2F-701B8DC65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628900"/>
            <a:ext cx="2705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58.4% 的活跃题材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B03DCC-A18A-4394-A9A2-E1B33E23C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181350"/>
            <a:ext cx="30480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DED4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36511C-FD6F-4101-BE29-91B9E6698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33750"/>
            <a:ext cx="27051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518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A9D8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2A9D8F"/>
                </a:solidFill>
                <a:latin typeface="Microsoft YaHei"/>
                <a:ea typeface="Microsoft YaHei"/>
                <a:cs typeface="Microsoft YaHei"/>
              </a:rPr>
              <a:t>736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41D9CBC-A604-41B1-B74D-92FBE3B74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829050"/>
            <a:ext cx="2705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反复题材行情段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51D5B73-3533-49B9-9F33-065EE4212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114800"/>
            <a:ext cx="2705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跨段换龙分析母体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4B13307-15ED-4021-95EA-3EA3A775C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686300"/>
            <a:ext cx="30480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7EAC5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4ABCE0-E4FC-4839-A8B9-802453B57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781550"/>
            <a:ext cx="2743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rPr>
              <a:t>同一个大题材名称，不等于同一轮行情。</a:t>
            </a:r>
          </a:p>
        </p:txBody>
      </p:sp>
    </p:spTree>
    <p:extLst>
      <p:ext uri="{BB962C8B-B14F-4D97-AF65-F5344CB8AC3E}">
        <p14:creationId xmlns:p14="http://schemas.microsoft.com/office/powerpoint/2010/main" val="1566788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050DB3-662D-4977-8E17-ACCAF2108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5C4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620DBA-76E4-45CD-90FC-1FF942EF0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85C4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D85C41"/>
                </a:solidFill>
                <a:latin typeface="Microsoft YaHei"/>
                <a:ea typeface="Microsoft YaHei"/>
                <a:cs typeface="Microsoft YaHei"/>
              </a:rPr>
              <a:t>生命周期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537B58-C102-4A6F-BC3E-C992D9022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rPr>
              <a:t>反复题材更深：宽度与高度的类别中位数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DB9A75-9205-4A26-9BFC-C9190ADCC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A9909B-5F2D-45E9-9334-78EC4D6F9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2025-10-30 — 2026-08-31  ·  描述性研究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AD4C25-070E-4479-8DC9-DD45A7368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032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D85C4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D85C41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graphicFrame>
        <p:nvGraphicFramePr>
          <p:cNvPr id="19" name="Chart"/>
          <p:cNvGraphicFramePr/>
          <p:nvPr/>
        </p:nvGraphicFramePr>
        <p:xfrm>
          <a:off xmlns:a="http://schemas.openxmlformats.org/drawingml/2006/main" x="723900" y="1657350"/>
          <a:ext xmlns:a="http://schemas.openxmlformats.org/drawingml/2006/main" cx="5143500" cy="3143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96d6e5992b84a32"/>
          </a:graphicData>
        </a:graphic>
      </p:graphicFrame>
      <p:graphicFrame>
        <p:nvGraphicFramePr>
          <p:cNvPr id="20" name="Chart"/>
          <p:cNvGraphicFramePr/>
          <p:nvPr/>
        </p:nvGraphicFramePr>
        <p:xfrm>
          <a:off xmlns:a="http://schemas.openxmlformats.org/drawingml/2006/main" x="6324600" y="1657350"/>
          <a:ext xmlns:a="http://schemas.openxmlformats.org/drawingml/2006/main" cx="5143500" cy="3143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fd8d7367b07422f"/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8BA564-4A09-4E47-AE92-387E0DC46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577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D85C4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D85C41"/>
                </a:solidFill>
                <a:latin typeface="Microsoft YaHei"/>
                <a:ea typeface="Microsoft YaHei"/>
                <a:cs typeface="Microsoft YaHei"/>
              </a:rPr>
              <a:t>左纵轴：每个题材峰值涨停家数的类别中位数（家）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23B562-BFFB-4C92-9449-66AD529FC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8577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A9D8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A9D8F"/>
                </a:solidFill>
                <a:latin typeface="Microsoft YaHei"/>
                <a:ea typeface="Microsoft YaHei"/>
                <a:cs typeface="Microsoft YaHei"/>
              </a:rPr>
              <a:t>右纵轴：每个题材峰值最高连板的类别中位数（板）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538E2A-6404-4C45-B56E-F4523EACB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95900"/>
            <a:ext cx="107442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4213D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531F60-32CC-4672-BCAA-0A2F0BC37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91150"/>
            <a:ext cx="10439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这说明反复题材通常更有梯队深度；不等于每一段都能持续，也不等于可直接交易。</a:t>
            </a:r>
          </a:p>
        </p:txBody>
      </p:sp>
    </p:spTree>
    <p:extLst>
      <p:ext uri="{BB962C8B-B14F-4D97-AF65-F5344CB8AC3E}">
        <p14:creationId xmlns:p14="http://schemas.microsoft.com/office/powerpoint/2010/main" val="22010733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0D41AE-CE7D-4CFC-BE4D-88D4C4895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5C4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B18F0B-468C-47EC-9A04-71C56CA87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85C4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D85C41"/>
                </a:solidFill>
                <a:latin typeface="Microsoft YaHei"/>
                <a:ea typeface="Microsoft YaHei"/>
                <a:cs typeface="Microsoft YaHei"/>
              </a:rPr>
              <a:t>次日换位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6A3EF1-B2DA-47D2-9A74-04167437B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rPr>
              <a:t>题材交接：旧第一会降级，新第一常从候选或场外跃迁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2EACFA-3C84-4AC1-B005-A44DAAE10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02F6E9-342B-42EF-A0B1-41A1FA2C8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2025-10-30 — 2026-08-31  ·  描述性研究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DFB598-A755-492A-9982-984E72183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032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D85C4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D85C41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graphicFrame>
        <p:nvGraphicFramePr>
          <p:cNvPr id="19" name="Chart"/>
          <p:cNvGraphicFramePr/>
          <p:nvPr/>
        </p:nvGraphicFramePr>
        <p:xfrm>
          <a:off xmlns:a="http://schemas.openxmlformats.org/drawingml/2006/main" x="723900" y="1657350"/>
          <a:ext xmlns:a="http://schemas.openxmlformats.org/drawingml/2006/main" cx="5048250" cy="3238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9c9c6037772403c"/>
          </a:graphicData>
        </a:graphic>
      </p:graphicFrame>
      <p:graphicFrame>
        <p:nvGraphicFramePr>
          <p:cNvPr id="20" name="Chart"/>
          <p:cNvGraphicFramePr/>
          <p:nvPr/>
        </p:nvGraphicFramePr>
        <p:xfrm>
          <a:off xmlns:a="http://schemas.openxmlformats.org/drawingml/2006/main" x="6419850" y="1657350"/>
          <a:ext xmlns:a="http://schemas.openxmlformats.org/drawingml/2006/main" cx="5048250" cy="3238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d73ad84a7ef4896"/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292450-5910-440A-ADD1-6E5BD6ED3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97205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D85C4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D85C41"/>
                </a:solidFill>
                <a:latin typeface="Microsoft YaHei"/>
                <a:ea typeface="Microsoft YaHei"/>
                <a:cs typeface="Microsoft YaHei"/>
              </a:rPr>
              <a:t>昨日第一的次日命运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822FF4-F781-4B60-922D-83FB49427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497205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A9D8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A9D8F"/>
                </a:solidFill>
                <a:latin typeface="Microsoft YaHei"/>
                <a:ea typeface="Microsoft YaHei"/>
                <a:cs typeface="Microsoft YaHei"/>
              </a:rPr>
              <a:t>当日第一来自哪里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34E991-5C00-47C3-918A-C7A8B03D2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429250"/>
            <a:ext cx="88392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7EAC5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891C05-3464-47D9-AA41-9550DF857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5524500"/>
            <a:ext cx="8534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rPr>
              <a:t>含义：前一晚要保留主线、次主线与新方向候选；次日必须重验资金选择。</a:t>
            </a:r>
          </a:p>
        </p:txBody>
      </p:sp>
    </p:spTree>
    <p:extLst>
      <p:ext uri="{BB962C8B-B14F-4D97-AF65-F5344CB8AC3E}">
        <p14:creationId xmlns:p14="http://schemas.microsoft.com/office/powerpoint/2010/main" val="117631093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901912E-8593-40D8-91D2-78C8F0581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5C4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524E5F-13F7-4788-B38A-B98B6790B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85C4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D85C41"/>
                </a:solidFill>
                <a:latin typeface="Microsoft YaHei"/>
                <a:ea typeface="Microsoft YaHei"/>
                <a:cs typeface="Microsoft YaHei"/>
              </a:rPr>
              <a:t>个股层级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16EA40-CFFD-4A1D-8406-163C3E919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rPr>
              <a:t>当时选出的龙，与最后走出的龙，是两套标签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590562-8309-4603-9064-308D6CEBE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AA46E3-778B-4588-AB12-7BD58A296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2025-10-30 — 2026-08-31  ·  描述性研究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D6AE30-2045-4F06-A0C2-CF4EBE96D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032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D85C4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D85C41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B66838-43EC-447F-9A5B-6A8C67809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76400"/>
            <a:ext cx="4762500" cy="2952750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DDEFEA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E7A3D4-5FF9-4037-9BF7-14F38B1BD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885950"/>
            <a:ext cx="419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rPr>
              <a:t>冻结龙位｜可前瞻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137D14-3E18-44E0-B32F-02975CA71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19350"/>
            <a:ext cx="409575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440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44054"/>
                </a:solidFill>
                <a:latin typeface="Microsoft YaHei"/>
                <a:ea typeface="Microsoft YaHei"/>
                <a:cs typeface="Microsoft YaHei"/>
              </a:rPr>
              <a:t>在可见日按固定排序得到龙1/2/3。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3440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44054"/>
                </a:solidFill>
                <a:latin typeface="Microsoft YaHei"/>
                <a:ea typeface="Microsoft YaHei"/>
                <a:cs typeface="Microsoft YaHei"/>
              </a:rPr>
              <a:t>用于检验：</a:t>
            </a:r>
          </a:p>
          <a:p xmlns:a="http://schemas.openxmlformats.org/drawingml/2006/main">
            <a:pPr algn="l">
              <a:defRPr sz="1350" b="0">
                <a:solidFill>
                  <a:srgbClr val="3440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44054"/>
                </a:solidFill>
                <a:latin typeface="Microsoft YaHei"/>
                <a:ea typeface="Microsoft YaHei"/>
                <a:cs typeface="Microsoft YaHei"/>
              </a:rPr>
              <a:t>• 选出来之后的终值收益</a:t>
            </a:r>
          </a:p>
          <a:p xmlns:a="http://schemas.openxmlformats.org/drawingml/2006/main">
            <a:pPr algn="l">
              <a:defRPr sz="1350" b="0">
                <a:solidFill>
                  <a:srgbClr val="3440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44054"/>
                </a:solidFill>
                <a:latin typeface="Microsoft YaHei"/>
                <a:ea typeface="Microsoft YaHei"/>
                <a:cs typeface="Microsoft YaHei"/>
              </a:rPr>
              <a:t>• 最大回撤</a:t>
            </a:r>
          </a:p>
          <a:p xmlns:a="http://schemas.openxmlformats.org/drawingml/2006/main">
            <a:pPr algn="l">
              <a:defRPr sz="1350" b="0">
                <a:solidFill>
                  <a:srgbClr val="3440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44054"/>
                </a:solidFill>
                <a:latin typeface="Microsoft YaHei"/>
                <a:ea typeface="Microsoft YaHei"/>
                <a:cs typeface="Microsoft YaHei"/>
              </a:rPr>
              <a:t>• 是否后来成为实现龙头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D0D9D0-DA67-49FB-AF21-79DD8C9CE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676400"/>
            <a:ext cx="4762500" cy="2952750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F7E4DE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E4B073-7148-4456-8E25-DA9E58906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1885950"/>
            <a:ext cx="419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rPr>
              <a:t>实现龙头｜后视镜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00B6A0-493C-430B-B094-65EC34661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419350"/>
            <a:ext cx="409575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440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44054"/>
                </a:solidFill>
                <a:latin typeface="Microsoft YaHei"/>
                <a:ea typeface="Microsoft YaHei"/>
                <a:cs typeface="Microsoft YaHei"/>
              </a:rPr>
              <a:t>看完整行情段后按表现选出。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3440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44054"/>
                </a:solidFill>
                <a:latin typeface="Microsoft YaHei"/>
                <a:ea typeface="Microsoft YaHei"/>
                <a:cs typeface="Microsoft YaHei"/>
              </a:rPr>
              <a:t>用于解释：</a:t>
            </a:r>
          </a:p>
          <a:p xmlns:a="http://schemas.openxmlformats.org/drawingml/2006/main">
            <a:pPr algn="l">
              <a:defRPr sz="1350" b="0">
                <a:solidFill>
                  <a:srgbClr val="3440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44054"/>
                </a:solidFill>
                <a:latin typeface="Microsoft YaHei"/>
                <a:ea typeface="Microsoft YaHei"/>
                <a:cs typeface="Microsoft YaHei"/>
              </a:rPr>
              <a:t>• 最终是谁走出来</a:t>
            </a:r>
          </a:p>
          <a:p xmlns:a="http://schemas.openxmlformats.org/drawingml/2006/main">
            <a:pPr algn="l">
              <a:defRPr sz="1350" b="0">
                <a:solidFill>
                  <a:srgbClr val="3440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44054"/>
                </a:solidFill>
                <a:latin typeface="Microsoft YaHei"/>
                <a:ea typeface="Microsoft YaHei"/>
                <a:cs typeface="Microsoft YaHei"/>
              </a:rPr>
              <a:t>• 它在冻结日是什么身份</a:t>
            </a:r>
          </a:p>
          <a:p xmlns:a="http://schemas.openxmlformats.org/drawingml/2006/main">
            <a:pPr algn="l">
              <a:defRPr sz="1350" b="0">
                <a:solidFill>
                  <a:srgbClr val="3440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44054"/>
                </a:solidFill>
                <a:latin typeface="Microsoft YaHei"/>
                <a:ea typeface="Microsoft YaHei"/>
                <a:cs typeface="Microsoft YaHei"/>
              </a:rPr>
              <a:t>• 是否从后排或名单外晋级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B371CC-465C-4C52-BB9D-3610DAC39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781300"/>
            <a:ext cx="914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D85C4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D85C41"/>
                </a:solidFill>
                <a:latin typeface="Microsoft YaHei"/>
                <a:ea typeface="Microsoft YaHei"/>
                <a:cs typeface="Microsoft YaHei"/>
              </a:rPr>
              <a:t>≠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6F613A3-C8EF-4C70-9CF1-0FCFC4A18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105400"/>
            <a:ext cx="95250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14213D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3E73F41-FBF5-485D-A6AE-71C707EA4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5200650"/>
            <a:ext cx="9220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收益比较的主证据使用冻结日之后的纯前瞻窗口。</a:t>
            </a:r>
          </a:p>
        </p:txBody>
      </p:sp>
    </p:spTree>
    <p:extLst>
      <p:ext uri="{BB962C8B-B14F-4D97-AF65-F5344CB8AC3E}">
        <p14:creationId xmlns:p14="http://schemas.microsoft.com/office/powerpoint/2010/main" val="16233152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E3B3A1-3436-4BA4-BD53-10C1F4BA2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5C4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24D9FE-52F8-4EF4-B568-A7AB25F3C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85C4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D85C41"/>
                </a:solidFill>
                <a:latin typeface="Microsoft YaHei"/>
                <a:ea typeface="Microsoft YaHei"/>
                <a:cs typeface="Microsoft YaHei"/>
              </a:rPr>
              <a:t>龙位表现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508ABA-7075-4FBE-97E3-263D6C804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rPr>
              <a:t>纯前瞻：龙1终值收益最高，龙2/3仍显著好于后排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7D7718-FB71-4343-A0A0-0D60C1A11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FF62A4-C1CC-4B1E-81A0-B3420467F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2025-10-30 — 2026-08-31  ·  描述性研究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3951E5-6225-410E-84E8-14A9D9E01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032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D85C4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D85C41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graphicFrame>
        <p:nvGraphicFramePr>
          <p:cNvPr id="17" name="Chart"/>
          <p:cNvGraphicFramePr/>
          <p:nvPr/>
        </p:nvGraphicFramePr>
        <p:xfrm>
          <a:off xmlns:a="http://schemas.openxmlformats.org/drawingml/2006/main" x="723900" y="1600200"/>
          <a:ext xmlns:a="http://schemas.openxmlformats.org/drawingml/2006/main" cx="6858000" cy="3714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b51a6b0971a446a"/>
          </a:graphicData>
        </a:graphic>
      </p:graphicFrame>
      <p:graphicFrame>
        <p:nvGraphicFramePr>
          <p:cNvPr id="18" name=""/>
          <p:cNvGraphicFramePr/>
          <p:nvPr/>
        </p:nvGraphicFramePr>
        <p:xfrm>
          <a:off xmlns:a="http://schemas.openxmlformats.org/drawingml/2006/main" x="8096250" y="1790700"/>
          <a:ext xmlns:a="http://schemas.openxmlformats.org/drawingml/2006/main" cx="3143250" cy="25527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238250"/>
                <a:gridCol w="857250"/>
                <a:gridCol w="1047750"/>
              </a:tblGrid>
              <a:tr h="510540"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角色</a:t>
                      </a:r>
                    </a:p>
                  </a:txBody>
                  <a:tcPr marL="76200" marR="76200" marT="47625" marB="47625"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样本 n</a:t>
                      </a:r>
                    </a:p>
                  </a:txBody>
                  <a:tcPr marL="76200" marR="76200" marT="47625" marB="47625"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正收益比例</a:t>
                      </a:r>
                    </a:p>
                  </a:txBody>
                  <a:tcPr marL="76200" marR="76200" marT="47625" marB="47625">
                    <a:solidFill>
                      <a:srgbClr val="14213D"/>
                    </a:solidFill>
                  </a:tcPr>
                </a:tc>
              </a:tr>
              <a:tr h="51054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0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龙1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0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224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0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72.8%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</a:tr>
              <a:tr h="51054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0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龙2</a:t>
                      </a:r>
                    </a:p>
                  </a:txBody>
                  <a:tcPr marL="76200" marR="76200" marT="38100" marB="38100">
                    <a:solidFill>
                      <a:srgbClr val="F1EE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0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224</a:t>
                      </a:r>
                    </a:p>
                  </a:txBody>
                  <a:tcPr marL="76200" marR="76200" marT="38100" marB="38100">
                    <a:solidFill>
                      <a:srgbClr val="F1EE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0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68.3%</a:t>
                      </a:r>
                    </a:p>
                  </a:txBody>
                  <a:tcPr marL="76200" marR="76200" marT="38100" marB="38100">
                    <a:solidFill>
                      <a:srgbClr val="F1EEE6"/>
                    </a:solidFill>
                  </a:tcPr>
                </a:tc>
              </a:tr>
              <a:tr h="51054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0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龙3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0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220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0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75.5%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</a:tr>
              <a:tr h="51054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0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后排</a:t>
                      </a:r>
                    </a:p>
                  </a:txBody>
                  <a:tcPr marL="76200" marR="76200" marT="38100" marB="38100">
                    <a:solidFill>
                      <a:srgbClr val="F1EE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0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1251</a:t>
                      </a:r>
                    </a:p>
                  </a:txBody>
                  <a:tcPr marL="76200" marR="76200" marT="38100" marB="38100">
                    <a:solidFill>
                      <a:srgbClr val="F1EE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0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58.3%</a:t>
                      </a:r>
                    </a:p>
                  </a:txBody>
                  <a:tcPr marL="76200" marR="76200" marT="38100" marB="38100">
                    <a:solidFill>
                      <a:srgbClr val="F1EEE6"/>
                    </a:solidFill>
                  </a:tcPr>
                </a:tc>
              </a:tr>
            </a:tbl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9BD94F-D789-4BC0-BB8A-B5FBD35D2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629150"/>
            <a:ext cx="3143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7EAC5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EB4E3A-476B-48DA-81DD-A4EC3502E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724400"/>
            <a:ext cx="28384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rPr>
              <a:t>龙3正收益比例最高（75.5%）：前三是层级，不应过早压缩成“唯一一只”。</a:t>
            </a:r>
          </a:p>
        </p:txBody>
      </p:sp>
    </p:spTree>
    <p:extLst>
      <p:ext uri="{BB962C8B-B14F-4D97-AF65-F5344CB8AC3E}">
        <p14:creationId xmlns:p14="http://schemas.microsoft.com/office/powerpoint/2010/main" val="82362777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8FD4658-9B55-4EBF-ADE4-ECFF370BF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5C4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76AF5D-A18B-4799-B2CF-3123B6DFC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85C4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D85C41"/>
                </a:solidFill>
                <a:latin typeface="Microsoft YaHei"/>
                <a:ea typeface="Microsoft YaHei"/>
                <a:cs typeface="Microsoft YaHei"/>
              </a:rPr>
              <a:t>龙位表现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C0E30A-8F90-4A21-97F1-A4C2A3845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rPr>
              <a:t>纯前瞻：后排路径更脆，回撤约为龙1的2.4倍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019548-7656-4E15-A56F-997338E2B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068B88-84AD-43B1-B89F-E7288C297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2025-10-30 — 2026-08-31  ·  描述性研究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E1936B-89D0-4992-9B76-9BAE865FC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032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D85C4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D85C41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graphicFrame>
        <p:nvGraphicFramePr>
          <p:cNvPr id="24" name="Chart"/>
          <p:cNvGraphicFramePr/>
          <p:nvPr/>
        </p:nvGraphicFramePr>
        <p:xfrm>
          <a:off xmlns:a="http://schemas.openxmlformats.org/drawingml/2006/main" x="723900" y="1600200"/>
          <a:ext xmlns:a="http://schemas.openxmlformats.org/drawingml/2006/main" cx="7620000" cy="3810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08b60e5c6454052"/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17FB67-F5C5-40B6-A3F2-76789FC2D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1790700"/>
            <a:ext cx="23812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DED4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5CD854-7AAC-4721-ADE2-6134B93D7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1943100"/>
            <a:ext cx="2038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518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A9D8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2A9D8F"/>
                </a:solidFill>
                <a:latin typeface="Microsoft YaHei"/>
                <a:ea typeface="Microsoft YaHei"/>
                <a:cs typeface="Microsoft YaHei"/>
              </a:rPr>
              <a:t>−1.7%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1BC133-3B51-433D-8EF8-8DF4F73C7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438400"/>
            <a:ext cx="2038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龙1中位回撤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B39EA6-3B72-424C-9946-A8C43BD23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724150"/>
            <a:ext cx="203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冻结日之后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621BF2-2F66-4D3D-A6E4-CC0FA21AF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295650"/>
            <a:ext cx="23812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DED4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1A980B-0C38-42DC-8BC2-438D7FE00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448050"/>
            <a:ext cx="2038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518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D85C4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D85C41"/>
                </a:solidFill>
                <a:latin typeface="Microsoft YaHei"/>
                <a:ea typeface="Microsoft YaHei"/>
                <a:cs typeface="Microsoft YaHei"/>
              </a:rPr>
              <a:t>−4.1%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96CAC1-53E3-4EA9-B315-9ADF20E39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943350"/>
            <a:ext cx="2038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后排中位回撤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49FFDFF-ABFE-489A-8EFD-7BF8F5BD7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4229100"/>
            <a:ext cx="203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路径更容易断裂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ACE770C-2543-48B0-AEFE-E673883DA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857750"/>
            <a:ext cx="2381250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7E4DE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C5A9452-6C8D-4E8C-8223-187283986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953000"/>
            <a:ext cx="2076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rPr>
              <a:t>龙位更强不代表免疫退潮。</a:t>
            </a:r>
          </a:p>
        </p:txBody>
      </p:sp>
    </p:spTree>
    <p:extLst>
      <p:ext uri="{BB962C8B-B14F-4D97-AF65-F5344CB8AC3E}">
        <p14:creationId xmlns:p14="http://schemas.microsoft.com/office/powerpoint/2010/main" val="38148821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355BB9E-87F5-4EC6-AD68-2811B04E9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5C4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9E15CD-3A40-4F5A-8146-3B280FFF1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85C4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D85C41"/>
                </a:solidFill>
                <a:latin typeface="Microsoft YaHei"/>
                <a:ea typeface="Microsoft YaHei"/>
                <a:cs typeface="Microsoft YaHei"/>
              </a:rPr>
              <a:t>实现龙头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A2554A-6172-4138-BB17-98707F5FA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rPr>
              <a:t>最终走出来的实现龙头：74.2% 已在冻结日前三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812A57-6BC2-4684-868C-1EA3B1E8D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8839DF-425B-4F2E-8F03-9B21EEF8F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2025-10-30 — 2026-08-31  ·  描述性研究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524D5D-266F-4FDE-8C66-1FCAC3507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032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D85C4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D85C41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graphicFrame>
        <p:nvGraphicFramePr>
          <p:cNvPr id="24" name="Chart"/>
          <p:cNvGraphicFramePr/>
          <p:nvPr/>
        </p:nvGraphicFramePr>
        <p:xfrm>
          <a:off xmlns:a="http://schemas.openxmlformats.org/drawingml/2006/main" x="666750" y="1581150"/>
          <a:ext xmlns:a="http://schemas.openxmlformats.org/drawingml/2006/main" cx="5619750" cy="3905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13b6d0b6ced4843"/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FA2227-CB42-45E2-923B-176498DA4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733550"/>
            <a:ext cx="40005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DED4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DBB186-7538-48FC-8C4A-EEB199C4E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885950"/>
            <a:ext cx="3657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518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D85C4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D85C41"/>
                </a:solidFill>
                <a:latin typeface="Microsoft YaHei"/>
                <a:ea typeface="Microsoft YaHei"/>
                <a:cs typeface="Microsoft YaHei"/>
              </a:rPr>
              <a:t>56.3%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9D6DA6-9D69-4D0E-BE17-441669182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381250"/>
            <a:ext cx="3657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就是冻结龙1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4A4D53-D334-41DA-A30C-628A394F3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667000"/>
            <a:ext cx="3657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229 / 407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974D92-5CD9-4CAD-9E2F-95CA9B3DC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200400"/>
            <a:ext cx="40005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DED4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2A7270-927D-4F7B-B9BA-BA4326704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352800"/>
            <a:ext cx="3657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518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E9C4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E9C46A"/>
                </a:solidFill>
                <a:latin typeface="Microsoft YaHei"/>
                <a:ea typeface="Microsoft YaHei"/>
                <a:cs typeface="Microsoft YaHei"/>
              </a:rPr>
              <a:t>74.2%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EDB864A-CC93-4120-BA5E-91E4E42BE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848100"/>
            <a:ext cx="3657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位于冻结前三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2995926-E9B2-404A-9F69-02EBDF85A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133850"/>
            <a:ext cx="3657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302 / 407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71C63AB-96F3-4EE7-B68F-6CAB59D11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705350"/>
            <a:ext cx="40005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DDEFEA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9DA6FBD-AC96-4E71-BC48-F7EB9B75C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800600"/>
            <a:ext cx="3695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rPr>
              <a:t>仍有25.8%从后排或冻结名单外走出。</a:t>
            </a:r>
          </a:p>
        </p:txBody>
      </p:sp>
    </p:spTree>
    <p:extLst>
      <p:ext uri="{BB962C8B-B14F-4D97-AF65-F5344CB8AC3E}">
        <p14:creationId xmlns:p14="http://schemas.microsoft.com/office/powerpoint/2010/main" val="130939669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14213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666C3A-BD96-4F49-B208-EDAB6C8BE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9C4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E9C46A"/>
                </a:solidFill>
                <a:latin typeface="Microsoft YaHei"/>
                <a:ea typeface="Microsoft YaHei"/>
                <a:cs typeface="Microsoft YaHei"/>
              </a:rPr>
              <a:t>反复题材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0DC949-B206-412F-875F-21FA81122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专题一｜退潮后再活跃，龙会不会换？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DFF8E2-FE08-4179-BBC6-85679DF36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627A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A356A4-82CC-4C31-AE89-7F2B02D34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B8C2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B8C2D8"/>
                </a:solidFill>
                <a:latin typeface="Microsoft YaHei"/>
                <a:ea typeface="Microsoft YaHei"/>
                <a:cs typeface="Microsoft YaHei"/>
              </a:rPr>
              <a:t>2025-10-30 — 2026-08-31  ·  描述性研究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1EA53C-DF94-4817-A33B-B7F86AFCA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032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E9C4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E9C46A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521D8E-3E2D-453E-9460-BDE40C8E2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19250"/>
            <a:ext cx="428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E9C4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E9C46A"/>
                </a:solidFill>
                <a:latin typeface="Microsoft YaHei"/>
                <a:ea typeface="Microsoft YaHei"/>
                <a:cs typeface="Microsoft YaHei"/>
              </a:rPr>
              <a:t>跨行情段看三件事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E97FB0-A8B9-414F-BABC-28AF29765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90750"/>
            <a:ext cx="9906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① 前一段的龙1/2/3，下一段还能不能进入前三</a:t>
            </a:r>
          </a:p>
          <a:p xmlns:a="http://schemas.openxmlformats.org/drawingml/2006/main">
            <a:pPr algn="l">
              <a:def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② 下一段前三里有多少是新股票</a:t>
            </a:r>
          </a:p>
          <a:p xmlns:a="http://schemas.openxmlformats.org/drawingml/2006/main">
            <a:pPr algn="l">
              <a:def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③ 跨两段以上持续出现的，是龙1还是龙2/3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B10FB0-3810-492E-8AED-AE9430DE3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24400"/>
            <a:ext cx="99060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D85C41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DAB057-CFC9-4AB7-AD06-CE97691AA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819650"/>
            <a:ext cx="9601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母体：80个反复题材、736段行情；跨段龙位统一使用段首龙位。</a:t>
            </a:r>
          </a:p>
        </p:txBody>
      </p:sp>
    </p:spTree>
    <p:extLst>
      <p:ext uri="{BB962C8B-B14F-4D97-AF65-F5344CB8AC3E}">
        <p14:creationId xmlns:p14="http://schemas.microsoft.com/office/powerpoint/2010/main" val="125244931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DF6B1B4-1803-4A9C-87FE-4D2B82C25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5C4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B7166B-3766-4AC3-9FE3-9E9FA63A3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85C4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D85C41"/>
                </a:solidFill>
                <a:latin typeface="Microsoft YaHei"/>
                <a:ea typeface="Microsoft YaHei"/>
                <a:cs typeface="Microsoft YaHei"/>
              </a:rPr>
              <a:t>反复题材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FBE239-A3C6-4AD8-BE2C-57D925B7B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rPr>
              <a:t>跨段换龙是主旋律：后续前三槽位中67.8%是新龙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54DDFA-14F9-48A6-A5D5-8A8DDD716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1436AC-E426-4958-98BB-4EF43606B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2025-10-30 — 2026-08-31  ·  描述性研究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B9C9E2-2461-4491-AF97-AAE6F8911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032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D85C4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D85C41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EC7A29-EDA7-49BE-9579-94F41C01A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38300"/>
            <a:ext cx="31432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DED4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9E40D3-FA4D-424E-8B61-ADD9450F1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790700"/>
            <a:ext cx="2800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518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D85C4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D85C41"/>
                </a:solidFill>
                <a:latin typeface="Microsoft YaHei"/>
                <a:ea typeface="Microsoft YaHei"/>
                <a:cs typeface="Microsoft YaHei"/>
              </a:rPr>
              <a:t>67.8%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5EA40E-3D3A-4EBD-AAA6-77BC285CF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86000"/>
            <a:ext cx="2800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后续前三槽位为新股票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974B2C-100F-47CF-BEA2-E6A07018D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71750"/>
            <a:ext cx="2800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1,257 / 1,854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6C1A26-43AC-4070-B46B-415F8E7A0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638300"/>
            <a:ext cx="31432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DED4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2DA14BB-C71E-40D9-A6CC-32FC136B1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790700"/>
            <a:ext cx="2800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518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A9D8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2A9D8F"/>
                </a:solidFill>
                <a:latin typeface="Microsoft YaHei"/>
                <a:ea typeface="Microsoft YaHei"/>
                <a:cs typeface="Microsoft YaHei"/>
              </a:rPr>
              <a:t>15.2%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0FF235-150B-4F61-A73A-0CCB2F6AC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286000"/>
            <a:ext cx="2800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与紧邻上一段连续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4F80B4D-9DCF-4C94-8C33-BF56DCD90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571750"/>
            <a:ext cx="2800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281 / 1,854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6D7A7C2-CFA9-44AF-9B0C-FB203D1EA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1638300"/>
            <a:ext cx="31432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DED4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7D84CA9-C5C3-40B6-9914-F916C7A52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790700"/>
            <a:ext cx="2800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518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E9C4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E9C46A"/>
                </a:solidFill>
                <a:latin typeface="Microsoft YaHei"/>
                <a:ea typeface="Microsoft YaHei"/>
                <a:cs typeface="Microsoft YaHei"/>
              </a:rPr>
              <a:t>32.2%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6E0FF51-614B-4DF4-A76E-08CB6F4C2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286000"/>
            <a:ext cx="2800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曾在任一前段出现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118CEC0-550E-4708-9A34-F5CB60FBA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571750"/>
            <a:ext cx="2800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597 / 1,854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4CBAE2A-31C8-4071-AFBC-02DD5DD85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52800"/>
            <a:ext cx="9886950" cy="1276350"/>
          </a:xfrm>
          <a:prstGeom xmlns:a="http://schemas.openxmlformats.org/drawingml/2006/main" prst="roundRect">
            <a:avLst>
              <a:gd name="adj" fmla="val 5970"/>
            </a:avLst>
          </a:prstGeom>
          <a:solidFill xmlns:a="http://schemas.openxmlformats.org/drawingml/2006/main">
            <a:srgbClr val="EAEFF5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2A2F721-4BF6-4CFB-BB09-6CECB70B1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24250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rPr>
              <a:t>另一种分母：按“题材×股票”去重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9E8CF10-BA02-454A-BC8C-FFDB1F60F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943350"/>
            <a:ext cx="9353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440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44054"/>
                </a:solidFill>
                <a:latin typeface="Microsoft YaHei"/>
                <a:ea typeface="Microsoft YaHei"/>
                <a:cs typeface="Microsoft YaHei"/>
              </a:rPr>
              <a:t>1,480 个曾进入段首前三的题材—股票组合中，375 个至少跨两段再次进入前三；龙持续率 = 25.3%。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1122B35-8E8F-4C86-9F0D-AA41C86D8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105400"/>
            <a:ext cx="90487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14213D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873F66B-91E0-49B2-88CE-9B5429B95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200650"/>
            <a:ext cx="8743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旧龙不是完全失效，但“旧龙自动延续”不是多数情况。</a:t>
            </a:r>
          </a:p>
        </p:txBody>
      </p:sp>
    </p:spTree>
    <p:extLst>
      <p:ext uri="{BB962C8B-B14F-4D97-AF65-F5344CB8AC3E}">
        <p14:creationId xmlns:p14="http://schemas.microsoft.com/office/powerpoint/2010/main" val="146953309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9C7B35F-8440-44BE-A851-FFB977A56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5C4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17D38A-A189-4E32-A819-E5C14F0FA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85C4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D85C41"/>
                </a:solidFill>
                <a:latin typeface="Microsoft YaHei"/>
                <a:ea typeface="Microsoft YaHei"/>
                <a:cs typeface="Microsoft YaHei"/>
              </a:rPr>
              <a:t>反复题材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999113-1A79-43DF-9EBD-38B332D65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rPr>
              <a:t>持续两段以上的375只龙：多数会换位，而非一直守龙1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F4F927-0A4F-4D4D-980C-4C65E5AE5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023418-8DF9-4B80-A373-C9DBAD45E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2025-10-30 — 2026-08-31  ·  描述性研究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2FC029-4248-4312-B5E1-393A1282F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032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D85C4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D85C41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graphicFrame>
        <p:nvGraphicFramePr>
          <p:cNvPr id="24" name="Chart"/>
          <p:cNvGraphicFramePr/>
          <p:nvPr/>
        </p:nvGraphicFramePr>
        <p:xfrm>
          <a:off xmlns:a="http://schemas.openxmlformats.org/drawingml/2006/main" x="723900" y="1657350"/>
          <a:ext xmlns:a="http://schemas.openxmlformats.org/drawingml/2006/main" cx="6858000" cy="3524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d548cfd309b4db2"/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E7F4F1-3723-496B-B1A4-3C7DB3A92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676400"/>
            <a:ext cx="31432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DED4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A02778-F4D3-46C8-89EB-0F923083C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828800"/>
            <a:ext cx="2800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518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D85C4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D85C41"/>
                </a:solidFill>
                <a:latin typeface="Microsoft YaHei"/>
                <a:ea typeface="Microsoft YaHei"/>
                <a:cs typeface="Microsoft YaHei"/>
              </a:rPr>
              <a:t>64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04B947-B13B-417F-B28E-9ABBB5293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324100"/>
            <a:ext cx="2800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始终守龙1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3C2305-DEB2-49FA-8476-5C811D6B3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609850"/>
            <a:ext cx="2800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17.1% 的持续龙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1DCC90-1EAA-4B5B-B5DF-835A17D0A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143250"/>
            <a:ext cx="31432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DED4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1EE40E-28B0-4ABA-8A67-DDEF8C8F1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295650"/>
            <a:ext cx="2800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518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E9C4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E9C46A"/>
                </a:solidFill>
                <a:latin typeface="Microsoft YaHei"/>
                <a:ea typeface="Microsoft YaHei"/>
                <a:cs typeface="Microsoft YaHei"/>
              </a:rPr>
              <a:t>181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44A6B26-9116-40E8-9223-09E4664E8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790950"/>
            <a:ext cx="2800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做过龙1且换位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4F0296-BF32-4595-A1E8-CF1A1E5E6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076700"/>
            <a:ext cx="2800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48.3% 的持续龙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4D42063-DC80-4AB5-B3B2-86365315A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629150"/>
            <a:ext cx="314325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F7E4DE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726113A-E136-4ED2-B0F4-92DB90723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724400"/>
            <a:ext cx="28384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rPr>
              <a:t>龙1是相对位置；题材重新活跃时，龙2/3可能晋级，龙1也可能退位。</a:t>
            </a:r>
          </a:p>
        </p:txBody>
      </p:sp>
    </p:spTree>
    <p:extLst>
      <p:ext uri="{BB962C8B-B14F-4D97-AF65-F5344CB8AC3E}">
        <p14:creationId xmlns:p14="http://schemas.microsoft.com/office/powerpoint/2010/main" val="87338862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B7F8D4-11AE-4F26-A636-AD371AA5B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5C4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814892-35D8-471C-9440-1E3B36C22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85C4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D85C41"/>
                </a:solidFill>
                <a:latin typeface="Microsoft YaHei"/>
                <a:ea typeface="Microsoft YaHei"/>
                <a:cs typeface="Microsoft YaHei"/>
              </a:rPr>
              <a:t>跨段明细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494170-C9E1-43BD-B228-F7F41363A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rPr>
              <a:t>代表性反复题材：前三段日期与龙1/2/3（上）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11C610-3D2A-4CF4-8167-029EAD0DF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5313C0-7E59-4EF8-8AD8-5C89C5ED4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2025-10-30 — 2026-08-31  ·  描述性研究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74AFAD-69FB-4D89-8C5B-D5A57A611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032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D85C4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D85C41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514350" y="1428750"/>
          <a:ext xmlns:a="http://schemas.openxmlformats.org/drawingml/2006/main" cx="11163300" cy="4629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200150"/>
                <a:gridCol w="552450"/>
                <a:gridCol w="2667000"/>
                <a:gridCol w="2667000"/>
                <a:gridCol w="2667000"/>
                <a:gridCol w="1409700"/>
              </a:tblGrid>
              <a:tr h="661307">
                <a:tc>
                  <a:txBody>
                    <a:bodyPr/>
                    <a:lstStyle/>
                    <a:p>
                      <a:r>
                        <a:rPr sz="8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题材</a:t>
                      </a:r>
                    </a:p>
                  </a:txBody>
                  <a:tcPr marL="76200" marR="76200" marT="47625" marB="47625"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段数</a:t>
                      </a:r>
                    </a:p>
                  </a:txBody>
                  <a:tcPr marL="76200" marR="76200" marT="47625" marB="47625"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第1段</a:t>
                      </a:r>
                    </a:p>
                  </a:txBody>
                  <a:tcPr marL="76200" marR="76200" marT="47625" marB="47625"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第2段</a:t>
                      </a:r>
                    </a:p>
                  </a:txBody>
                  <a:tcPr marL="76200" marR="76200" marT="47625" marB="47625"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第3段</a:t>
                      </a:r>
                    </a:p>
                  </a:txBody>
                  <a:tcPr marL="76200" marR="76200" marT="47625" marB="47625"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龙持续率</a:t>
                      </a:r>
                    </a:p>
                  </a:txBody>
                  <a:tcPr marL="76200" marR="76200" marT="47625" marB="47625">
                    <a:solidFill>
                      <a:srgbClr val="14213D"/>
                    </a:solidFill>
                  </a:tcPr>
                </a:tc>
              </a:tr>
              <a:tr h="661307">
                <a:tc>
                  <a:txBody>
                    <a:bodyPr/>
                    <a:lstStyle/>
                    <a:p>
                      <a:r>
                        <a:rPr sz="675">
                          <a:solidFill>
                            <a:srgbClr val="1720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地产链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75">
                          <a:solidFill>
                            <a:srgbClr val="1720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30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75">
                          <a:solidFill>
                            <a:srgbClr val="1720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2025-11-11</a:t>
                      </a:r>
                    </a:p>
                    <a:p>
                      <a:r>
                        <a:rPr sz="675">
                          <a:solidFill>
                            <a:srgbClr val="1720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龙1 三木集团 / 龙2 华侨城Ａ / 龙3 大名城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75">
                          <a:solidFill>
                            <a:srgbClr val="1720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2025-11-14</a:t>
                      </a:r>
                    </a:p>
                    <a:p>
                      <a:r>
                        <a:rPr sz="675">
                          <a:solidFill>
                            <a:srgbClr val="1720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龙1 华夏幸福 / 龙2 荣盛发展 / 龙3 —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75">
                          <a:solidFill>
                            <a:srgbClr val="1720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2025-11-20</a:t>
                      </a:r>
                    </a:p>
                    <a:p>
                      <a:r>
                        <a:rPr sz="675">
                          <a:solidFill>
                            <a:srgbClr val="1720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龙1 梦天家居 / 龙2 财信发展 / 龙3 —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75">
                          <a:solidFill>
                            <a:srgbClr val="1720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28.1%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</a:tr>
              <a:tr h="661307">
                <a:tc>
                  <a:txBody>
                    <a:bodyPr/>
                    <a:lstStyle/>
                    <a:p>
                      <a:r>
                        <a:rPr sz="675">
                          <a:solidFill>
                            <a:srgbClr val="1720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并购重组</a:t>
                      </a:r>
                    </a:p>
                  </a:txBody>
                  <a:tcPr marL="76200" marR="76200" marT="38100" marB="38100">
                    <a:solidFill>
                      <a:srgbClr val="F1EE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75">
                          <a:solidFill>
                            <a:srgbClr val="1720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27</a:t>
                      </a:r>
                    </a:p>
                  </a:txBody>
                  <a:tcPr marL="76200" marR="76200" marT="38100" marB="38100">
                    <a:solidFill>
                      <a:srgbClr val="F1EE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75">
                          <a:solidFill>
                            <a:srgbClr val="1720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2025-11-04</a:t>
                      </a:r>
                    </a:p>
                    <a:p>
                      <a:r>
                        <a:rPr sz="675">
                          <a:solidFill>
                            <a:srgbClr val="1720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龙1 威高血净 / 龙2 盈新发展 / 龙3 —</a:t>
                      </a:r>
                    </a:p>
                  </a:txBody>
                  <a:tcPr marL="76200" marR="76200" marT="38100" marB="38100">
                    <a:solidFill>
                      <a:srgbClr val="F1EE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75">
                          <a:solidFill>
                            <a:srgbClr val="1720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2025-11-11</a:t>
                      </a:r>
                    </a:p>
                    <a:p>
                      <a:r>
                        <a:rPr sz="675">
                          <a:solidFill>
                            <a:srgbClr val="1720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龙1 国城矿业 / 龙2 胜利股份 / 龙3 神马股份</a:t>
                      </a:r>
                    </a:p>
                  </a:txBody>
                  <a:tcPr marL="76200" marR="76200" marT="38100" marB="38100">
                    <a:solidFill>
                      <a:srgbClr val="F1EE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75">
                          <a:solidFill>
                            <a:srgbClr val="1720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2025-11-25</a:t>
                      </a:r>
                    </a:p>
                    <a:p>
                      <a:r>
                        <a:rPr sz="675">
                          <a:solidFill>
                            <a:srgbClr val="1720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龙1 金富科技 / 龙2 禾信仪器 / 龙3 方大炭素</a:t>
                      </a:r>
                    </a:p>
                  </a:txBody>
                  <a:tcPr marL="76200" marR="76200" marT="38100" marB="38100">
                    <a:solidFill>
                      <a:srgbClr val="F1EE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75">
                          <a:solidFill>
                            <a:srgbClr val="1720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21.1%</a:t>
                      </a:r>
                    </a:p>
                  </a:txBody>
                  <a:tcPr marL="76200" marR="76200" marT="38100" marB="38100">
                    <a:solidFill>
                      <a:srgbClr val="F1EEE6"/>
                    </a:solidFill>
                  </a:tcPr>
                </a:tc>
              </a:tr>
              <a:tr h="661307">
                <a:tc>
                  <a:txBody>
                    <a:bodyPr/>
                    <a:lstStyle/>
                    <a:p>
                      <a:r>
                        <a:rPr sz="675">
                          <a:solidFill>
                            <a:srgbClr val="1720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锂电池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75">
                          <a:solidFill>
                            <a:srgbClr val="1720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27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75">
                          <a:solidFill>
                            <a:srgbClr val="1720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2025-10-30</a:t>
                      </a:r>
                    </a:p>
                    <a:p>
                      <a:r>
                        <a:rPr sz="675">
                          <a:solidFill>
                            <a:srgbClr val="1720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龙1 大中矿业 / 龙2 石大胜华 / 龙3 天际股份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75">
                          <a:solidFill>
                            <a:srgbClr val="1720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2025-11-06</a:t>
                      </a:r>
                    </a:p>
                    <a:p>
                      <a:r>
                        <a:rPr sz="675">
                          <a:solidFill>
                            <a:srgbClr val="1720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龙1 恒大高新 / 龙2 深圳新星 / 龙3 大中矿业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75">
                          <a:solidFill>
                            <a:srgbClr val="1720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2025-11-24</a:t>
                      </a:r>
                    </a:p>
                    <a:p>
                      <a:r>
                        <a:rPr sz="675">
                          <a:solidFill>
                            <a:srgbClr val="1720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龙1 广汽集团 / 龙2 国晟科技 / 龙3 威领股份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75">
                          <a:solidFill>
                            <a:srgbClr val="1720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32.7%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</a:tr>
              <a:tr h="661307">
                <a:tc>
                  <a:txBody>
                    <a:bodyPr/>
                    <a:lstStyle/>
                    <a:p>
                      <a:r>
                        <a:rPr sz="675">
                          <a:solidFill>
                            <a:srgbClr val="1720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化工</a:t>
                      </a:r>
                    </a:p>
                  </a:txBody>
                  <a:tcPr marL="76200" marR="76200" marT="38100" marB="38100">
                    <a:solidFill>
                      <a:srgbClr val="F1EE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75">
                          <a:solidFill>
                            <a:srgbClr val="1720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26</a:t>
                      </a:r>
                    </a:p>
                  </a:txBody>
                  <a:tcPr marL="76200" marR="76200" marT="38100" marB="38100">
                    <a:solidFill>
                      <a:srgbClr val="F1EE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75">
                          <a:solidFill>
                            <a:srgbClr val="1720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2025-11-03</a:t>
                      </a:r>
                    </a:p>
                    <a:p>
                      <a:r>
                        <a:rPr sz="675">
                          <a:solidFill>
                            <a:srgbClr val="1720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龙1 百合花 / 龙2 美瑞新材 / 龙3 华泰股份</a:t>
                      </a:r>
                    </a:p>
                  </a:txBody>
                  <a:tcPr marL="76200" marR="76200" marT="38100" marB="38100">
                    <a:solidFill>
                      <a:srgbClr val="F1EE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75">
                          <a:solidFill>
                            <a:srgbClr val="1720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2025-11-06</a:t>
                      </a:r>
                    </a:p>
                    <a:p>
                      <a:r>
                        <a:rPr sz="675">
                          <a:solidFill>
                            <a:srgbClr val="1720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龙1 振华股份 / 龙2 亚邦股份 / 龙3 三房巷</a:t>
                      </a:r>
                    </a:p>
                  </a:txBody>
                  <a:tcPr marL="76200" marR="76200" marT="38100" marB="38100">
                    <a:solidFill>
                      <a:srgbClr val="F1EE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75">
                          <a:solidFill>
                            <a:srgbClr val="1720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2025-11-19</a:t>
                      </a:r>
                    </a:p>
                    <a:p>
                      <a:r>
                        <a:rPr sz="675">
                          <a:solidFill>
                            <a:srgbClr val="1720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龙1 晨光新材 / 龙2 氯碱化工 / 龙3 蓝丰生化</a:t>
                      </a:r>
                    </a:p>
                  </a:txBody>
                  <a:tcPr marL="76200" marR="76200" marT="38100" marB="38100">
                    <a:solidFill>
                      <a:srgbClr val="F1EE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75">
                          <a:solidFill>
                            <a:srgbClr val="1720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24.6%</a:t>
                      </a:r>
                    </a:p>
                  </a:txBody>
                  <a:tcPr marL="76200" marR="76200" marT="38100" marB="38100">
                    <a:solidFill>
                      <a:srgbClr val="F1EEE6"/>
                    </a:solidFill>
                  </a:tcPr>
                </a:tc>
              </a:tr>
              <a:tr h="661307">
                <a:tc>
                  <a:txBody>
                    <a:bodyPr/>
                    <a:lstStyle/>
                    <a:p>
                      <a:r>
                        <a:rPr sz="675">
                          <a:solidFill>
                            <a:srgbClr val="1720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算力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75">
                          <a:solidFill>
                            <a:srgbClr val="1720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26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75">
                          <a:solidFill>
                            <a:srgbClr val="1720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2025-11-17</a:t>
                      </a:r>
                    </a:p>
                    <a:p>
                      <a:r>
                        <a:rPr sz="675">
                          <a:solidFill>
                            <a:srgbClr val="1720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龙1 园林股份 / 龙2 统一股份 / 龙3 华升股份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75">
                          <a:solidFill>
                            <a:srgbClr val="1720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2025-11-21</a:t>
                      </a:r>
                    </a:p>
                    <a:p>
                      <a:r>
                        <a:rPr sz="675">
                          <a:solidFill>
                            <a:srgbClr val="1720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龙1 实达集团 / 龙2 贵广网络 / 龙3 特发信息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75">
                          <a:solidFill>
                            <a:srgbClr val="1720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2025-12-09</a:t>
                      </a:r>
                    </a:p>
                    <a:p>
                      <a:r>
                        <a:rPr sz="675">
                          <a:solidFill>
                            <a:srgbClr val="1720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龙1 鸿博股份 / 龙2 东阳光 / 龙3 宏盛股份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75">
                          <a:solidFill>
                            <a:srgbClr val="1720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22.0%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</a:tr>
              <a:tr h="661307">
                <a:tc>
                  <a:txBody>
                    <a:bodyPr/>
                    <a:lstStyle/>
                    <a:p>
                      <a:r>
                        <a:rPr sz="675">
                          <a:solidFill>
                            <a:srgbClr val="1720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智能电网</a:t>
                      </a:r>
                    </a:p>
                  </a:txBody>
                  <a:tcPr marL="76200" marR="76200" marT="38100" marB="38100">
                    <a:solidFill>
                      <a:srgbClr val="F1EE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75">
                          <a:solidFill>
                            <a:srgbClr val="1720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26</a:t>
                      </a:r>
                    </a:p>
                  </a:txBody>
                  <a:tcPr marL="76200" marR="76200" marT="38100" marB="38100">
                    <a:solidFill>
                      <a:srgbClr val="F1EE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75">
                          <a:solidFill>
                            <a:srgbClr val="1720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2025-11-04</a:t>
                      </a:r>
                    </a:p>
                    <a:p>
                      <a:r>
                        <a:rPr sz="675">
                          <a:solidFill>
                            <a:srgbClr val="1720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龙1 京泉华 / 龙2 神马电力 / 龙3 中能电气</a:t>
                      </a:r>
                    </a:p>
                  </a:txBody>
                  <a:tcPr marL="76200" marR="76200" marT="38100" marB="38100">
                    <a:solidFill>
                      <a:srgbClr val="F1EE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75">
                          <a:solidFill>
                            <a:srgbClr val="1720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2025-11-13</a:t>
                      </a:r>
                    </a:p>
                    <a:p>
                      <a:r>
                        <a:rPr sz="675">
                          <a:solidFill>
                            <a:srgbClr val="1720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龙1 摩恩电气 / 龙2 顺钠股份 / 龙3 —</a:t>
                      </a:r>
                    </a:p>
                  </a:txBody>
                  <a:tcPr marL="76200" marR="76200" marT="38100" marB="38100">
                    <a:solidFill>
                      <a:srgbClr val="F1EE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75">
                          <a:solidFill>
                            <a:srgbClr val="1720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2025-12-09</a:t>
                      </a:r>
                    </a:p>
                    <a:p>
                      <a:r>
                        <a:rPr sz="675">
                          <a:solidFill>
                            <a:srgbClr val="1720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龙1 积成电子 / 龙2 洛凯股份 / 龙3 柘中股份</a:t>
                      </a:r>
                    </a:p>
                  </a:txBody>
                  <a:tcPr marL="76200" marR="76200" marT="38100" marB="38100">
                    <a:solidFill>
                      <a:srgbClr val="F1EE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75">
                          <a:solidFill>
                            <a:srgbClr val="1720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44.4%</a:t>
                      </a:r>
                    </a:p>
                  </a:txBody>
                  <a:tcPr marL="76200" marR="76200" marT="38100" marB="38100">
                    <a:solidFill>
                      <a:srgbClr val="F1EEE6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3215443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467E31-8978-4F73-925F-56A199038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5C4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8A0E93-1AA8-4ECD-A5E2-D2A6FCABC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85C4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D85C41"/>
                </a:solidFill>
                <a:latin typeface="Microsoft YaHei"/>
                <a:ea typeface="Microsoft YaHei"/>
                <a:cs typeface="Microsoft YaHei"/>
              </a:rPr>
              <a:t>跨段明细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91AF7F-14D0-467C-9E3D-ACBAF55A7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rPr>
              <a:t>代表性反复题材：前三段日期与龙1/2/3（下）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5B7C47-C984-42B5-81EF-0A0882809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A8D83D-FBF9-4C75-BEFA-EEA8D5E71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2025-10-30 — 2026-08-31  ·  描述性研究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76981B-8EC1-4012-A467-54CCF42CB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032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D85C4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D85C41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514350" y="1428750"/>
          <a:ext xmlns:a="http://schemas.openxmlformats.org/drawingml/2006/main" cx="11163300" cy="4629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200150"/>
                <a:gridCol w="552450"/>
                <a:gridCol w="2667000"/>
                <a:gridCol w="2667000"/>
                <a:gridCol w="2667000"/>
                <a:gridCol w="1409700"/>
              </a:tblGrid>
              <a:tr h="661307">
                <a:tc>
                  <a:txBody>
                    <a:bodyPr/>
                    <a:lstStyle/>
                    <a:p>
                      <a:r>
                        <a:rPr sz="8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题材</a:t>
                      </a:r>
                    </a:p>
                  </a:txBody>
                  <a:tcPr marL="76200" marR="76200" marT="47625" marB="47625"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段数</a:t>
                      </a:r>
                    </a:p>
                  </a:txBody>
                  <a:tcPr marL="76200" marR="76200" marT="47625" marB="47625"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第1段</a:t>
                      </a:r>
                    </a:p>
                  </a:txBody>
                  <a:tcPr marL="76200" marR="76200" marT="47625" marB="47625"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第2段</a:t>
                      </a:r>
                    </a:p>
                  </a:txBody>
                  <a:tcPr marL="76200" marR="76200" marT="47625" marB="47625"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第3段</a:t>
                      </a:r>
                    </a:p>
                  </a:txBody>
                  <a:tcPr marL="76200" marR="76200" marT="47625" marB="47625"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龙持续率</a:t>
                      </a:r>
                    </a:p>
                  </a:txBody>
                  <a:tcPr marL="76200" marR="76200" marT="47625" marB="47625">
                    <a:solidFill>
                      <a:srgbClr val="14213D"/>
                    </a:solidFill>
                  </a:tcPr>
                </a:tc>
              </a:tr>
              <a:tr h="661307">
                <a:tc>
                  <a:txBody>
                    <a:bodyPr/>
                    <a:lstStyle/>
                    <a:p>
                      <a:r>
                        <a:rPr sz="675">
                          <a:solidFill>
                            <a:srgbClr val="1720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通信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75">
                          <a:solidFill>
                            <a:srgbClr val="1720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25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75">
                          <a:solidFill>
                            <a:srgbClr val="1720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2025-11-03</a:t>
                      </a:r>
                    </a:p>
                    <a:p>
                      <a:r>
                        <a:rPr sz="675">
                          <a:solidFill>
                            <a:srgbClr val="1720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龙1 天津普林 / 龙2 世嘉科技 / 龙3 协和电子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75">
                          <a:solidFill>
                            <a:srgbClr val="1720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2025-11-06</a:t>
                      </a:r>
                    </a:p>
                    <a:p>
                      <a:r>
                        <a:rPr sz="675">
                          <a:solidFill>
                            <a:srgbClr val="1720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龙1 可川科技 / 龙2 汇绿生态 / 龙3 东山精密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75">
                          <a:solidFill>
                            <a:srgbClr val="1720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2025-11-10</a:t>
                      </a:r>
                    </a:p>
                    <a:p>
                      <a:r>
                        <a:rPr sz="675">
                          <a:solidFill>
                            <a:srgbClr val="1720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龙1 金安国纪 / 龙2 青山纸业 / 龙3 —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75">
                          <a:solidFill>
                            <a:srgbClr val="1720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36.2%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</a:tr>
              <a:tr h="661307">
                <a:tc>
                  <a:txBody>
                    <a:bodyPr/>
                    <a:lstStyle/>
                    <a:p>
                      <a:r>
                        <a:rPr sz="675">
                          <a:solidFill>
                            <a:srgbClr val="1720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医药</a:t>
                      </a:r>
                    </a:p>
                  </a:txBody>
                  <a:tcPr marL="76200" marR="76200" marT="38100" marB="38100">
                    <a:solidFill>
                      <a:srgbClr val="F1EE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75">
                          <a:solidFill>
                            <a:srgbClr val="1720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25</a:t>
                      </a:r>
                    </a:p>
                  </a:txBody>
                  <a:tcPr marL="76200" marR="76200" marT="38100" marB="38100">
                    <a:solidFill>
                      <a:srgbClr val="F1EE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75">
                          <a:solidFill>
                            <a:srgbClr val="1720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2025-10-31</a:t>
                      </a:r>
                    </a:p>
                    <a:p>
                      <a:r>
                        <a:rPr sz="675">
                          <a:solidFill>
                            <a:srgbClr val="1720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龙1 合富中国 / 龙2 联环药业 / 龙3 三生国健</a:t>
                      </a:r>
                    </a:p>
                  </a:txBody>
                  <a:tcPr marL="76200" marR="76200" marT="38100" marB="38100">
                    <a:solidFill>
                      <a:srgbClr val="F1EE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75">
                          <a:solidFill>
                            <a:srgbClr val="1720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2025-11-05</a:t>
                      </a:r>
                    </a:p>
                    <a:p>
                      <a:r>
                        <a:rPr sz="675">
                          <a:solidFill>
                            <a:srgbClr val="1720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龙1 合富中国 / 龙2 圣达生物 / 龙3 —</a:t>
                      </a:r>
                    </a:p>
                  </a:txBody>
                  <a:tcPr marL="76200" marR="76200" marT="38100" marB="38100">
                    <a:solidFill>
                      <a:srgbClr val="F1EE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75">
                          <a:solidFill>
                            <a:srgbClr val="1720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2025-11-10</a:t>
                      </a:r>
                    </a:p>
                    <a:p>
                      <a:r>
                        <a:rPr sz="675">
                          <a:solidFill>
                            <a:srgbClr val="1720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龙1 昂利康 / 龙2 人民同泰 / 龙3 北大医药</a:t>
                      </a:r>
                    </a:p>
                  </a:txBody>
                  <a:tcPr marL="76200" marR="76200" marT="38100" marB="38100">
                    <a:solidFill>
                      <a:srgbClr val="F1EE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75">
                          <a:solidFill>
                            <a:srgbClr val="1720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39.1%</a:t>
                      </a:r>
                    </a:p>
                  </a:txBody>
                  <a:tcPr marL="76200" marR="76200" marT="38100" marB="38100">
                    <a:solidFill>
                      <a:srgbClr val="F1EEE6"/>
                    </a:solidFill>
                  </a:tcPr>
                </a:tc>
              </a:tr>
              <a:tr h="661307">
                <a:tc>
                  <a:txBody>
                    <a:bodyPr/>
                    <a:lstStyle/>
                    <a:p>
                      <a:r>
                        <a:rPr sz="675">
                          <a:solidFill>
                            <a:srgbClr val="1720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机器人概念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75">
                          <a:solidFill>
                            <a:srgbClr val="1720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24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75">
                          <a:solidFill>
                            <a:srgbClr val="1720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2025-11-11</a:t>
                      </a:r>
                    </a:p>
                    <a:p>
                      <a:r>
                        <a:rPr sz="675">
                          <a:solidFill>
                            <a:srgbClr val="1720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龙1 方正电机 / 龙2 冀凯股份 / 龙3 晶华新材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75">
                          <a:solidFill>
                            <a:srgbClr val="1720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2025-11-17</a:t>
                      </a:r>
                    </a:p>
                    <a:p>
                      <a:r>
                        <a:rPr sz="675">
                          <a:solidFill>
                            <a:srgbClr val="1720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龙1 首开股份 / 龙2 恒工精密 / 龙3 百利科技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75">
                          <a:solidFill>
                            <a:srgbClr val="1720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2025-11-27</a:t>
                      </a:r>
                    </a:p>
                    <a:p>
                      <a:r>
                        <a:rPr sz="675">
                          <a:solidFill>
                            <a:srgbClr val="1720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龙1 金新农 / 龙2 新美星 / 龙3 恒立液压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75">
                          <a:solidFill>
                            <a:srgbClr val="1720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14.8%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</a:tr>
              <a:tr h="661307">
                <a:tc>
                  <a:txBody>
                    <a:bodyPr/>
                    <a:lstStyle/>
                    <a:p>
                      <a:r>
                        <a:rPr sz="675">
                          <a:solidFill>
                            <a:srgbClr val="1720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芯片</a:t>
                      </a:r>
                    </a:p>
                  </a:txBody>
                  <a:tcPr marL="76200" marR="76200" marT="38100" marB="38100">
                    <a:solidFill>
                      <a:srgbClr val="F1EE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75">
                          <a:solidFill>
                            <a:srgbClr val="1720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</a:t>
                      </a:r>
                    </a:p>
                  </a:txBody>
                  <a:tcPr marL="76200" marR="76200" marT="38100" marB="38100">
                    <a:solidFill>
                      <a:srgbClr val="F1EE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75">
                          <a:solidFill>
                            <a:srgbClr val="1720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2025-11-03</a:t>
                      </a:r>
                    </a:p>
                    <a:p>
                      <a:r>
                        <a:rPr sz="675">
                          <a:solidFill>
                            <a:srgbClr val="1720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龙1 盈新发展 / 龙2 全筑股份 / 龙3 太极实业</a:t>
                      </a:r>
                    </a:p>
                  </a:txBody>
                  <a:tcPr marL="76200" marR="76200" marT="38100" marB="38100">
                    <a:solidFill>
                      <a:srgbClr val="F1EE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75">
                          <a:solidFill>
                            <a:srgbClr val="1720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2025-11-06</a:t>
                      </a:r>
                    </a:p>
                    <a:p>
                      <a:r>
                        <a:rPr sz="675">
                          <a:solidFill>
                            <a:srgbClr val="1720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龙1 德明利 / 龙2 格林达 / 龙3 长光华芯</a:t>
                      </a:r>
                    </a:p>
                  </a:txBody>
                  <a:tcPr marL="76200" marR="76200" marT="38100" marB="38100">
                    <a:solidFill>
                      <a:srgbClr val="F1EE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75">
                          <a:solidFill>
                            <a:srgbClr val="1720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2025-11-17</a:t>
                      </a:r>
                    </a:p>
                    <a:p>
                      <a:r>
                        <a:rPr sz="675">
                          <a:solidFill>
                            <a:srgbClr val="1720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龙1 合肥城建 / 龙2 盛视科技 / 龙3 —</a:t>
                      </a:r>
                    </a:p>
                  </a:txBody>
                  <a:tcPr marL="76200" marR="76200" marT="38100" marB="38100">
                    <a:solidFill>
                      <a:srgbClr val="F1EE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75">
                          <a:solidFill>
                            <a:srgbClr val="1720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20.0%</a:t>
                      </a:r>
                    </a:p>
                  </a:txBody>
                  <a:tcPr marL="76200" marR="76200" marT="38100" marB="38100">
                    <a:solidFill>
                      <a:srgbClr val="F1EEE6"/>
                    </a:solidFill>
                  </a:tcPr>
                </a:tc>
              </a:tr>
              <a:tr h="661307">
                <a:tc>
                  <a:txBody>
                    <a:bodyPr/>
                    <a:lstStyle/>
                    <a:p>
                      <a:r>
                        <a:rPr sz="675">
                          <a:solidFill>
                            <a:srgbClr val="1720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商业航天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75">
                          <a:solidFill>
                            <a:srgbClr val="1720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19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75">
                          <a:solidFill>
                            <a:srgbClr val="1720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2025-11-07</a:t>
                      </a:r>
                    </a:p>
                    <a:p>
                      <a:r>
                        <a:rPr sz="675">
                          <a:solidFill>
                            <a:srgbClr val="1720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龙1 上海沪工 / 龙2 四川金顶 / 龙3 乾照光电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75">
                          <a:solidFill>
                            <a:srgbClr val="1720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2025-11-12</a:t>
                      </a:r>
                    </a:p>
                    <a:p>
                      <a:r>
                        <a:rPr sz="675">
                          <a:solidFill>
                            <a:srgbClr val="1720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龙1 上海沪工 / 龙2 上海港湾 / 龙3 —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75">
                          <a:solidFill>
                            <a:srgbClr val="1720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2025-11-24</a:t>
                      </a:r>
                    </a:p>
                    <a:p>
                      <a:r>
                        <a:rPr sz="675">
                          <a:solidFill>
                            <a:srgbClr val="1720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龙1 航天动力 / 龙2 招标股份 / 龙3 航天环宇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75">
                          <a:solidFill>
                            <a:srgbClr val="1720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25.6%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</a:tr>
              <a:tr h="661307">
                <a:tc>
                  <a:txBody>
                    <a:bodyPr/>
                    <a:lstStyle/>
                    <a:p>
                      <a:r>
                        <a:rPr sz="675">
                          <a:solidFill>
                            <a:srgbClr val="1720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实控人变更</a:t>
                      </a:r>
                    </a:p>
                  </a:txBody>
                  <a:tcPr marL="76200" marR="76200" marT="38100" marB="38100">
                    <a:solidFill>
                      <a:srgbClr val="F1EE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75">
                          <a:solidFill>
                            <a:srgbClr val="1720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19</a:t>
                      </a:r>
                    </a:p>
                  </a:txBody>
                  <a:tcPr marL="76200" marR="76200" marT="38100" marB="38100">
                    <a:solidFill>
                      <a:srgbClr val="F1EE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75">
                          <a:solidFill>
                            <a:srgbClr val="1720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2025-11-04</a:t>
                      </a:r>
                    </a:p>
                    <a:p>
                      <a:r>
                        <a:rPr sz="675">
                          <a:solidFill>
                            <a:srgbClr val="1720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龙1 德龙汇能 / 龙2 标准股份 / 龙3 —</a:t>
                      </a:r>
                    </a:p>
                  </a:txBody>
                  <a:tcPr marL="76200" marR="76200" marT="38100" marB="38100">
                    <a:solidFill>
                      <a:srgbClr val="F1EE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75">
                          <a:solidFill>
                            <a:srgbClr val="1720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2025-11-11</a:t>
                      </a:r>
                    </a:p>
                    <a:p>
                      <a:r>
                        <a:rPr sz="675">
                          <a:solidFill>
                            <a:srgbClr val="1720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龙1 维信诺 / 龙2 线上线下 / 龙3 德龙汇能</a:t>
                      </a:r>
                    </a:p>
                  </a:txBody>
                  <a:tcPr marL="76200" marR="76200" marT="38100" marB="38100">
                    <a:solidFill>
                      <a:srgbClr val="F1EE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75">
                          <a:solidFill>
                            <a:srgbClr val="1720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2025-11-18</a:t>
                      </a:r>
                    </a:p>
                    <a:p>
                      <a:r>
                        <a:rPr sz="675">
                          <a:solidFill>
                            <a:srgbClr val="1720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龙1 真爱美家 / 龙2 思创医惠 / 龙3 —</a:t>
                      </a:r>
                    </a:p>
                  </a:txBody>
                  <a:tcPr marL="76200" marR="76200" marT="38100" marB="38100">
                    <a:solidFill>
                      <a:srgbClr val="F1EE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75">
                          <a:solidFill>
                            <a:srgbClr val="1720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32.1%</a:t>
                      </a:r>
                    </a:p>
                  </a:txBody>
                  <a:tcPr marL="76200" marR="76200" marT="38100" marB="38100">
                    <a:solidFill>
                      <a:srgbClr val="F1EEE6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73187401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8934F47-425B-43F6-8A0A-F1314D8CA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5C4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B2856C-F3E6-452D-AE12-3AA3AEBAC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85C4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D85C41"/>
                </a:solidFill>
                <a:latin typeface="Microsoft YaHei"/>
                <a:ea typeface="Microsoft YaHei"/>
                <a:cs typeface="Microsoft YaHei"/>
              </a:rPr>
              <a:t>跨段表现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BF3BA0-4377-4954-A11E-D5E599660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rPr>
              <a:t>旧龙到下一段：龙1保留率最高，但大多数仍会退出前三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D9B21B-1117-4C5C-9347-CF31AC37F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019D82-3F2E-48BA-951D-C11925BAD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2025-10-30 — 2026-08-31  ·  描述性研究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AAC6BA-AC10-4F41-A54F-855394DD5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032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D85C4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D85C41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  <p:graphicFrame>
        <p:nvGraphicFramePr>
          <p:cNvPr id="24" name=""/>
          <p:cNvGraphicFramePr/>
          <p:nvPr/>
        </p:nvGraphicFramePr>
        <p:xfrm>
          <a:off xmlns:a="http://schemas.openxmlformats.org/drawingml/2006/main" x="723900" y="1657350"/>
          <a:ext xmlns:a="http://schemas.openxmlformats.org/drawingml/2006/main" cx="10668000" cy="23241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428750"/>
                <a:gridCol w="1714500"/>
                <a:gridCol w="1714500"/>
                <a:gridCol w="1714500"/>
                <a:gridCol w="2000250"/>
                <a:gridCol w="1714500"/>
              </a:tblGrid>
              <a:tr h="581025"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前段角色</a:t>
                      </a:r>
                    </a:p>
                  </a:txBody>
                  <a:tcPr marL="76200" marR="76200" marT="47625" marB="47625"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下一段仍前三</a:t>
                      </a:r>
                    </a:p>
                  </a:txBody>
                  <a:tcPr marL="76200" marR="76200" marT="47625" marB="47625"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下一段仍同位</a:t>
                      </a:r>
                    </a:p>
                  </a:txBody>
                  <a:tcPr marL="76200" marR="76200" marT="47625" marB="47625"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下一段成为龙1</a:t>
                      </a:r>
                    </a:p>
                  </a:txBody>
                  <a:tcPr marL="76200" marR="76200" marT="47625" marB="47625"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下一段收益中位</a:t>
                      </a:r>
                    </a:p>
                  </a:txBody>
                  <a:tcPr marL="76200" marR="76200" marT="47625" marB="47625"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正收益比例</a:t>
                      </a:r>
                    </a:p>
                  </a:txBody>
                  <a:tcPr marL="76200" marR="76200" marT="47625" marB="47625">
                    <a:solidFill>
                      <a:srgbClr val="14213D"/>
                    </a:solidFill>
                  </a:tcPr>
                </a:tc>
              </a:tr>
              <a:tr h="581025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0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龙1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0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19.5%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0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12.0%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0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12.0%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0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2.8%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0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70.7%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0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龙2</a:t>
                      </a:r>
                    </a:p>
                  </a:txBody>
                  <a:tcPr marL="76200" marR="76200" marT="38100" marB="38100">
                    <a:solidFill>
                      <a:srgbClr val="F1EE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0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15.4%</a:t>
                      </a:r>
                    </a:p>
                  </a:txBody>
                  <a:tcPr marL="76200" marR="76200" marT="38100" marB="38100">
                    <a:solidFill>
                      <a:srgbClr val="F1EE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0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4.6%</a:t>
                      </a:r>
                    </a:p>
                  </a:txBody>
                  <a:tcPr marL="76200" marR="76200" marT="38100" marB="38100">
                    <a:solidFill>
                      <a:srgbClr val="F1EE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0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7.2%</a:t>
                      </a:r>
                    </a:p>
                  </a:txBody>
                  <a:tcPr marL="76200" marR="76200" marT="38100" marB="38100">
                    <a:solidFill>
                      <a:srgbClr val="F1EE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0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2.3%</a:t>
                      </a:r>
                    </a:p>
                  </a:txBody>
                  <a:tcPr marL="76200" marR="76200" marT="38100" marB="38100">
                    <a:solidFill>
                      <a:srgbClr val="F1EE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0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67.1%</a:t>
                      </a:r>
                    </a:p>
                  </a:txBody>
                  <a:tcPr marL="76200" marR="76200" marT="38100" marB="38100">
                    <a:solidFill>
                      <a:srgbClr val="F1EEE6"/>
                    </a:solidFill>
                  </a:tcPr>
                </a:tc>
              </a:tr>
              <a:tr h="581025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0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龙3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0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9.7%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0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3.9%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0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2.6%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0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2.2%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0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64.3%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9C2888-CA6A-451E-9001-0BBE7326C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00550"/>
            <a:ext cx="31432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DED4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CE8E62-4328-4613-ADA0-4B5609340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52950"/>
            <a:ext cx="2800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518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D85C4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D85C41"/>
                </a:solidFill>
                <a:latin typeface="Microsoft YaHei"/>
                <a:ea typeface="Microsoft YaHei"/>
                <a:cs typeface="Microsoft YaHei"/>
              </a:rPr>
              <a:t>19.5%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862FAA-1C43-4607-9C44-0CD51C974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48250"/>
            <a:ext cx="2800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旧龙1下一段仍前三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E64EE8-F17F-404E-A406-B05B89CC8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334000"/>
            <a:ext cx="2800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龙2 15.4%｜龙3 9.7%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A98AB4-BDFE-4752-A415-6177826C9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400550"/>
            <a:ext cx="31432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DED4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7D607E-7C16-4821-8FC5-D40AA010C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552950"/>
            <a:ext cx="2800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518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A9D8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2A9D8F"/>
                </a:solidFill>
                <a:latin typeface="Microsoft YaHei"/>
                <a:ea typeface="Microsoft YaHei"/>
                <a:cs typeface="Microsoft YaHei"/>
              </a:rPr>
              <a:t>+2.8%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8DCE72-C79B-492A-857F-75E1B2CFF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048250"/>
            <a:ext cx="2800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旧龙1下一段收益中位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05396C7-89AA-4A26-9420-91F34719E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334000"/>
            <a:ext cx="2800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仅描述后来那一段路径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22682A5-FE57-431D-B964-ABCBD82F7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400550"/>
            <a:ext cx="31432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7EAC5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F751739-33C3-4961-B8DF-E30B43962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495800"/>
            <a:ext cx="28384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rPr>
              <a:t>正收益不等于可买：后段通常很短，且这里不是盘中可执行回测。</a:t>
            </a:r>
          </a:p>
        </p:txBody>
      </p:sp>
    </p:spTree>
    <p:extLst>
      <p:ext uri="{BB962C8B-B14F-4D97-AF65-F5344CB8AC3E}">
        <p14:creationId xmlns:p14="http://schemas.microsoft.com/office/powerpoint/2010/main" val="638780936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14213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EC05B6-6624-4685-B636-0DB145C6E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9C4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E9C46A"/>
                </a:solidFill>
                <a:latin typeface="Microsoft YaHei"/>
                <a:ea typeface="Microsoft YaHei"/>
                <a:cs typeface="Microsoft YaHei"/>
              </a:rPr>
              <a:t>单轮多日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528B7C-5E79-44EA-8B0F-3ED98AFD9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专题二｜同一段行情里，龙位如何随 t−T 变化？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33801A-550E-4C4A-A891-5EC9651DE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627A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147895-95A9-49BC-8A19-4050D2182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B8C2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B8C2D8"/>
                </a:solidFill>
                <a:latin typeface="Microsoft YaHei"/>
                <a:ea typeface="Microsoft YaHei"/>
                <a:cs typeface="Microsoft YaHei"/>
              </a:rPr>
              <a:t>2025-10-30 — 2026-08-31  ·  描述性研究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B9E0DB-2E1C-4314-8E44-502EBD89F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032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E9C4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E9C46A"/>
                </a:solidFill>
                <a:latin typeface="Microsoft YaHei"/>
                <a:ea typeface="Microsoft YaHei"/>
                <a:cs typeface="Microsoft YaHei"/>
              </a:rPr>
              <a:t>18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768DB3-0EDD-4E63-8550-8CF348F95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7640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E9C4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E9C46A"/>
                </a:solidFill>
                <a:latin typeface="Microsoft YaHei"/>
                <a:ea typeface="Microsoft YaHei"/>
                <a:cs typeface="Microsoft YaHei"/>
              </a:rPr>
              <a:t>T = 行情段开始日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FF36F8-3338-41FE-A218-92AC8B307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24100"/>
            <a:ext cx="9810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以10个“只出现一段、但持续多日”的题材为母体：</a:t>
            </a:r>
          </a:p>
          <a:p xmlns:a="http://schemas.openxmlformats.org/drawingml/2006/main">
            <a:pPr algn="l">
              <a:def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逐交易日重新排序龙1/2/3，观察守位、接力与新龙进入。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7DD1DB-8D3C-4838-A645-FF7007957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29150"/>
            <a:ext cx="87630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D85C41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4A4F53-CA5D-4A94-826F-227376DF8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24400"/>
            <a:ext cx="8458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样本在T+2后快速变小；每个百分比必须和n一起看。</a:t>
            </a:r>
          </a:p>
        </p:txBody>
      </p:sp>
    </p:spTree>
    <p:extLst>
      <p:ext uri="{BB962C8B-B14F-4D97-AF65-F5344CB8AC3E}">
        <p14:creationId xmlns:p14="http://schemas.microsoft.com/office/powerpoint/2010/main" val="1307511915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0E13E1F-C58F-4D6B-B0F8-8ABCB69B3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5C4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A1B9C1-260D-4B4C-8327-F65AEAD43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85C4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D85C41"/>
                </a:solidFill>
                <a:latin typeface="Microsoft YaHei"/>
                <a:ea typeface="Microsoft YaHei"/>
                <a:cs typeface="Microsoft YaHei"/>
              </a:rPr>
              <a:t>段内换位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5D60B6-7949-4C9C-ABFA-B27100977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rPr>
              <a:t>T+1：龙1有40%守住龙1，前三槽位已有60%换成新股票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DCB830-165D-4A43-8F92-CF4B2B521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045345-C32B-49B4-8DAB-D960737FC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2025-10-30 — 2026-08-31  ·  描述性研究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2FF5B3-621A-4FAC-9BCD-69AAA0DB1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032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D85C4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D85C41"/>
                </a:solidFill>
                <a:latin typeface="Microsoft YaHei"/>
                <a:ea typeface="Microsoft YaHei"/>
                <a:cs typeface="Microsoft YaHei"/>
              </a:rPr>
              <a:t>19</a:t>
            </a:r>
          </a:p>
        </p:txBody>
      </p:sp>
      <p:graphicFrame>
        <p:nvGraphicFramePr>
          <p:cNvPr id="24" name=""/>
          <p:cNvGraphicFramePr/>
          <p:nvPr/>
        </p:nvGraphicFramePr>
        <p:xfrm>
          <a:off xmlns:a="http://schemas.openxmlformats.org/drawingml/2006/main" x="723900" y="1619250"/>
          <a:ext xmlns:a="http://schemas.openxmlformats.org/drawingml/2006/main" cx="10668000" cy="2381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143000"/>
                <a:gridCol w="1143000"/>
                <a:gridCol w="2000250"/>
                <a:gridCol w="2000250"/>
                <a:gridCol w="2190750"/>
                <a:gridCol w="2190750"/>
              </a:tblGrid>
              <a:tr h="595313"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t−T</a:t>
                      </a:r>
                    </a:p>
                  </a:txBody>
                  <a:tcPr marL="76200" marR="76200" marT="47625" marB="47625"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题材 n</a:t>
                      </a:r>
                    </a:p>
                  </a:txBody>
                  <a:tcPr marL="76200" marR="76200" marT="47625" marB="47625"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T日龙1仍龙1</a:t>
                      </a:r>
                    </a:p>
                  </a:txBody>
                  <a:tcPr marL="76200" marR="76200" marT="47625" marB="47625"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T日龙1仍前三</a:t>
                      </a:r>
                    </a:p>
                  </a:txBody>
                  <a:tcPr marL="76200" marR="76200" marT="47625" marB="47625"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T日龙2/3仍前三</a:t>
                      </a:r>
                    </a:p>
                  </a:txBody>
                  <a:tcPr marL="76200" marR="76200" marT="47625" marB="47625"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新股票占当日前三</a:t>
                      </a:r>
                    </a:p>
                  </a:txBody>
                  <a:tcPr marL="76200" marR="76200" marT="47625" marB="47625">
                    <a:solidFill>
                      <a:srgbClr val="14213D"/>
                    </a:solidFill>
                  </a:tcPr>
                </a:tc>
              </a:tr>
              <a:tr h="595313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0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T+0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0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0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100.0%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0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100.0%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0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100.0%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0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0.0%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</a:tr>
              <a:tr h="595313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0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T+1</a:t>
                      </a:r>
                    </a:p>
                  </a:txBody>
                  <a:tcPr marL="76200" marR="76200" marT="38100" marB="38100">
                    <a:solidFill>
                      <a:srgbClr val="F1EE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0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</a:t>
                      </a:r>
                    </a:p>
                  </a:txBody>
                  <a:tcPr marL="76200" marR="76200" marT="38100" marB="38100">
                    <a:solidFill>
                      <a:srgbClr val="F1EE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0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40.0%</a:t>
                      </a:r>
                    </a:p>
                  </a:txBody>
                  <a:tcPr marL="76200" marR="76200" marT="38100" marB="38100">
                    <a:solidFill>
                      <a:srgbClr val="F1EE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0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60.0%</a:t>
                      </a:r>
                    </a:p>
                  </a:txBody>
                  <a:tcPr marL="76200" marR="76200" marT="38100" marB="38100">
                    <a:solidFill>
                      <a:srgbClr val="F1EE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0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21.1%</a:t>
                      </a:r>
                    </a:p>
                  </a:txBody>
                  <a:tcPr marL="76200" marR="76200" marT="38100" marB="38100">
                    <a:solidFill>
                      <a:srgbClr val="F1EE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0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60.0%</a:t>
                      </a:r>
                    </a:p>
                  </a:txBody>
                  <a:tcPr marL="76200" marR="76200" marT="38100" marB="38100">
                    <a:solidFill>
                      <a:srgbClr val="F1EEE6"/>
                    </a:solidFill>
                  </a:tcPr>
                </a:tc>
              </a:tr>
              <a:tr h="595313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0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T+2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0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0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33.3%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0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33.3%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0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20.0%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0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71.4%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799F01-449C-4FB6-B73E-D9F7E584B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62450"/>
            <a:ext cx="31432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DED4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2AD5BB-C7AF-43C1-975A-B768F3E10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14850"/>
            <a:ext cx="2800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518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D85C4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D85C41"/>
                </a:solidFill>
                <a:latin typeface="Microsoft YaHei"/>
                <a:ea typeface="Microsoft YaHei"/>
                <a:cs typeface="Microsoft YaHei"/>
              </a:rPr>
              <a:t>40.0%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7D8681-E7BD-4694-8A82-DD24527FA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10150"/>
            <a:ext cx="2800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T+1龙1仍是龙1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5CAAD4-0722-4DF9-BCDF-8322EB995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295900"/>
            <a:ext cx="2800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4 / 10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D083D2-5E5B-4E1C-84F0-EB6B8D4DE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362450"/>
            <a:ext cx="31432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DED4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30EF93-AC49-47A5-87E5-C98D24DC5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514850"/>
            <a:ext cx="2800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518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A9D8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2A9D8F"/>
                </a:solidFill>
                <a:latin typeface="Microsoft YaHei"/>
                <a:ea typeface="Microsoft YaHei"/>
                <a:cs typeface="Microsoft YaHei"/>
              </a:rPr>
              <a:t>21.1%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68376D1-62DC-4928-9AA7-578F934EA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010150"/>
            <a:ext cx="2800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T+1龙2/3仍在前三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31F0ACB-E7CA-4AE6-8F02-001E3BAA9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295900"/>
            <a:ext cx="2800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4 / 19个可用槽位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357BBA-A358-42C0-AD01-481EBDEF9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362450"/>
            <a:ext cx="31432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7EAC5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BD8E9A5-A868-4644-8A2B-C2AF4EC7D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457700"/>
            <a:ext cx="28384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rPr>
              <a:t>T+2仅剩3个题材，不做总体结论。</a:t>
            </a:r>
          </a:p>
        </p:txBody>
      </p:sp>
    </p:spTree>
    <p:extLst>
      <p:ext uri="{BB962C8B-B14F-4D97-AF65-F5344CB8AC3E}">
        <p14:creationId xmlns:p14="http://schemas.microsoft.com/office/powerpoint/2010/main" val="499502828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5C9049-04DE-46A8-B488-2D02CFBAA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5C4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0CB684-7996-4D11-954B-F4C6544DF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85C4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D85C41"/>
                </a:solidFill>
                <a:latin typeface="Microsoft YaHei"/>
                <a:ea typeface="Microsoft YaHei"/>
                <a:cs typeface="Microsoft YaHei"/>
              </a:rPr>
              <a:t>段内案例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E15DA1-80DA-4D9E-8B3A-D2C843A52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rPr>
              <a:t>九个短案例：守位、晋级和整组替换都存在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02A65D-E31D-431D-9B56-0FA467454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D88955-2293-41F4-B6F3-EFC6D4188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2025-10-30 — 2026-08-31  ·  描述性研究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27F8C7-0E03-4F87-8191-C829188F6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032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D85C4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D85C41"/>
                </a:solidFill>
                <a:latin typeface="Microsoft YaHei"/>
                <a:ea typeface="Microsoft YaHei"/>
                <a:cs typeface="Microsoft YaHei"/>
              </a:rPr>
              <a:t>20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495300" y="1371600"/>
          <a:ext xmlns:a="http://schemas.openxmlformats.org/drawingml/2006/main" cx="11182350" cy="4800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333500"/>
                <a:gridCol w="3143250"/>
                <a:gridCol w="3143250"/>
                <a:gridCol w="3562350"/>
              </a:tblGrid>
              <a:tr h="480060">
                <a:tc>
                  <a:txBody>
                    <a:bodyPr/>
                    <a:lstStyle/>
                    <a:p>
                      <a:r>
                        <a:rPr sz="8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题材</a:t>
                      </a:r>
                    </a:p>
                  </a:txBody>
                  <a:tcPr marL="76200" marR="76200" marT="47625" marB="47625"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T日龙1/2/3</a:t>
                      </a:r>
                    </a:p>
                  </a:txBody>
                  <a:tcPr marL="76200" marR="76200" marT="47625" marB="47625"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T+1龙1/2/3</a:t>
                      </a:r>
                    </a:p>
                  </a:txBody>
                  <a:tcPr marL="76200" marR="76200" marT="47625" marB="47625"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观察</a:t>
                      </a:r>
                    </a:p>
                  </a:txBody>
                  <a:tcPr marL="76200" marR="76200" marT="47625" marB="47625">
                    <a:solidFill>
                      <a:srgbClr val="14213D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r>
                        <a:rPr sz="675">
                          <a:solidFill>
                            <a:srgbClr val="1720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AI PC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75">
                          <a:solidFill>
                            <a:srgbClr val="1720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龙1 中京电子</a:t>
                      </a:r>
                    </a:p>
                    <a:p>
                      <a:r>
                        <a:rPr sz="675">
                          <a:solidFill>
                            <a:srgbClr val="1720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龙2 春秋电子</a:t>
                      </a:r>
                    </a:p>
                    <a:p>
                      <a:r>
                        <a:rPr sz="675">
                          <a:solidFill>
                            <a:srgbClr val="1720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龙3 胜利精密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75">
                          <a:solidFill>
                            <a:srgbClr val="1720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龙1 中京电子</a:t>
                      </a:r>
                    </a:p>
                    <a:p>
                      <a:r>
                        <a:rPr sz="675">
                          <a:solidFill>
                            <a:srgbClr val="1720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龙2 春秋电子</a:t>
                      </a:r>
                    </a:p>
                    <a:p>
                      <a:r>
                        <a:rPr sz="675">
                          <a:solidFill>
                            <a:srgbClr val="1720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龙3 —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75">
                          <a:solidFill>
                            <a:srgbClr val="1720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龙1守位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r>
                        <a:rPr sz="675">
                          <a:solidFill>
                            <a:srgbClr val="1720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三季报增长</a:t>
                      </a:r>
                    </a:p>
                  </a:txBody>
                  <a:tcPr marL="76200" marR="76200" marT="38100" marB="38100">
                    <a:solidFill>
                      <a:srgbClr val="F1EE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75">
                          <a:solidFill>
                            <a:srgbClr val="1720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龙1 方正电机</a:t>
                      </a:r>
                    </a:p>
                    <a:p>
                      <a:r>
                        <a:rPr sz="675">
                          <a:solidFill>
                            <a:srgbClr val="1720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龙2 康盛股份</a:t>
                      </a:r>
                    </a:p>
                    <a:p>
                      <a:r>
                        <a:rPr sz="675">
                          <a:solidFill>
                            <a:srgbClr val="1720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龙3 振华股份</a:t>
                      </a:r>
                    </a:p>
                  </a:txBody>
                  <a:tcPr marL="76200" marR="76200" marT="38100" marB="38100">
                    <a:solidFill>
                      <a:srgbClr val="F1EE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75">
                          <a:solidFill>
                            <a:srgbClr val="1720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龙1 弘元绿能</a:t>
                      </a:r>
                    </a:p>
                    <a:p>
                      <a:r>
                        <a:rPr sz="675">
                          <a:solidFill>
                            <a:srgbClr val="1720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龙2 金安国纪</a:t>
                      </a:r>
                    </a:p>
                    <a:p>
                      <a:r>
                        <a:rPr sz="675">
                          <a:solidFill>
                            <a:srgbClr val="1720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龙3 利通电子</a:t>
                      </a:r>
                    </a:p>
                  </a:txBody>
                  <a:tcPr marL="76200" marR="76200" marT="38100" marB="38100">
                    <a:solidFill>
                      <a:srgbClr val="F1EE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75">
                          <a:solidFill>
                            <a:srgbClr val="1720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龙1退出/无后续</a:t>
                      </a:r>
                    </a:p>
                  </a:txBody>
                  <a:tcPr marL="76200" marR="76200" marT="38100" marB="38100">
                    <a:solidFill>
                      <a:srgbClr val="F1EEE6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r>
                        <a:rPr sz="675">
                          <a:solidFill>
                            <a:srgbClr val="1720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低空经济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75">
                          <a:solidFill>
                            <a:srgbClr val="1720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龙1 宗申动力</a:t>
                      </a:r>
                    </a:p>
                    <a:p>
                      <a:r>
                        <a:rPr sz="675">
                          <a:solidFill>
                            <a:srgbClr val="1720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龙2 金盾股份</a:t>
                      </a:r>
                    </a:p>
                    <a:p>
                      <a:r>
                        <a:rPr sz="675">
                          <a:solidFill>
                            <a:srgbClr val="1720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龙3 —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75">
                          <a:solidFill>
                            <a:srgbClr val="1720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龙1 上工申贝</a:t>
                      </a:r>
                    </a:p>
                    <a:p>
                      <a:r>
                        <a:rPr sz="675">
                          <a:solidFill>
                            <a:srgbClr val="1720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龙2 东安动力</a:t>
                      </a:r>
                    </a:p>
                    <a:p>
                      <a:r>
                        <a:rPr sz="675">
                          <a:solidFill>
                            <a:srgbClr val="1720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龙3 宗申动力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75">
                          <a:solidFill>
                            <a:srgbClr val="1720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龙1退位仍在前三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r>
                        <a:rPr sz="675">
                          <a:solidFill>
                            <a:srgbClr val="1720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华为昇腾</a:t>
                      </a:r>
                    </a:p>
                  </a:txBody>
                  <a:tcPr marL="76200" marR="76200" marT="38100" marB="38100">
                    <a:solidFill>
                      <a:srgbClr val="F1EE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75">
                          <a:solidFill>
                            <a:srgbClr val="1720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龙1 深圳华强</a:t>
                      </a:r>
                    </a:p>
                    <a:p>
                      <a:r>
                        <a:rPr sz="675">
                          <a:solidFill>
                            <a:srgbClr val="1720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龙2 浙数文化</a:t>
                      </a:r>
                    </a:p>
                    <a:p>
                      <a:r>
                        <a:rPr sz="675">
                          <a:solidFill>
                            <a:srgbClr val="1720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龙3 皖通科技</a:t>
                      </a:r>
                    </a:p>
                  </a:txBody>
                  <a:tcPr marL="76200" marR="76200" marT="38100" marB="38100">
                    <a:solidFill>
                      <a:srgbClr val="F1EE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75">
                          <a:solidFill>
                            <a:srgbClr val="1720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龙1 深圳华强</a:t>
                      </a:r>
                    </a:p>
                    <a:p>
                      <a:r>
                        <a:rPr sz="675">
                          <a:solidFill>
                            <a:srgbClr val="1720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龙2 杰创智能</a:t>
                      </a:r>
                    </a:p>
                    <a:p>
                      <a:r>
                        <a:rPr sz="675">
                          <a:solidFill>
                            <a:srgbClr val="1720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龙3 —</a:t>
                      </a:r>
                    </a:p>
                  </a:txBody>
                  <a:tcPr marL="76200" marR="76200" marT="38100" marB="38100">
                    <a:solidFill>
                      <a:srgbClr val="F1EE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75">
                          <a:solidFill>
                            <a:srgbClr val="1720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龙1守位</a:t>
                      </a:r>
                    </a:p>
                  </a:txBody>
                  <a:tcPr marL="76200" marR="76200" marT="38100" marB="38100">
                    <a:solidFill>
                      <a:srgbClr val="F1EEE6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r>
                        <a:rPr sz="675">
                          <a:solidFill>
                            <a:srgbClr val="1720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文创产品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75">
                          <a:solidFill>
                            <a:srgbClr val="1720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龙1 南京商旅</a:t>
                      </a:r>
                    </a:p>
                    <a:p>
                      <a:r>
                        <a:rPr sz="675">
                          <a:solidFill>
                            <a:srgbClr val="1720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龙2 广博股份</a:t>
                      </a:r>
                    </a:p>
                    <a:p>
                      <a:r>
                        <a:rPr sz="675">
                          <a:solidFill>
                            <a:srgbClr val="1720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龙3 来伊份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75">
                          <a:solidFill>
                            <a:srgbClr val="1720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龙1 三湘印象</a:t>
                      </a:r>
                    </a:p>
                    <a:p>
                      <a:r>
                        <a:rPr sz="675">
                          <a:solidFill>
                            <a:srgbClr val="1720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龙2 德必集团</a:t>
                      </a:r>
                    </a:p>
                    <a:p>
                      <a:r>
                        <a:rPr sz="675">
                          <a:solidFill>
                            <a:srgbClr val="1720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龙3 创源股份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75">
                          <a:solidFill>
                            <a:srgbClr val="1720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龙1退出/无后续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r>
                        <a:rPr sz="675">
                          <a:solidFill>
                            <a:srgbClr val="1720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水产品</a:t>
                      </a:r>
                    </a:p>
                  </a:txBody>
                  <a:tcPr marL="76200" marR="76200" marT="38100" marB="38100">
                    <a:solidFill>
                      <a:srgbClr val="F1EE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75">
                          <a:solidFill>
                            <a:srgbClr val="1720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龙1 中水渔业</a:t>
                      </a:r>
                    </a:p>
                    <a:p>
                      <a:r>
                        <a:rPr sz="675">
                          <a:solidFill>
                            <a:srgbClr val="1720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龙2 獐子岛</a:t>
                      </a:r>
                    </a:p>
                    <a:p>
                      <a:r>
                        <a:rPr sz="675">
                          <a:solidFill>
                            <a:srgbClr val="1720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龙3 百洋股份</a:t>
                      </a:r>
                    </a:p>
                  </a:txBody>
                  <a:tcPr marL="76200" marR="76200" marT="38100" marB="38100">
                    <a:solidFill>
                      <a:srgbClr val="F1EE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75">
                          <a:solidFill>
                            <a:srgbClr val="1720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龙1 中水渔业</a:t>
                      </a:r>
                    </a:p>
                    <a:p>
                      <a:r>
                        <a:rPr sz="675">
                          <a:solidFill>
                            <a:srgbClr val="1720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龙2 开创国际</a:t>
                      </a:r>
                    </a:p>
                    <a:p>
                      <a:r>
                        <a:rPr sz="675">
                          <a:solidFill>
                            <a:srgbClr val="1720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龙3 —</a:t>
                      </a:r>
                    </a:p>
                  </a:txBody>
                  <a:tcPr marL="76200" marR="76200" marT="38100" marB="38100">
                    <a:solidFill>
                      <a:srgbClr val="F1EE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75">
                          <a:solidFill>
                            <a:srgbClr val="1720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龙1守位</a:t>
                      </a:r>
                    </a:p>
                  </a:txBody>
                  <a:tcPr marL="76200" marR="76200" marT="38100" marB="38100">
                    <a:solidFill>
                      <a:srgbClr val="F1EEE6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r>
                        <a:rPr sz="675">
                          <a:solidFill>
                            <a:srgbClr val="1720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疫苗概念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75">
                          <a:solidFill>
                            <a:srgbClr val="1720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龙1 键凯科技</a:t>
                      </a:r>
                    </a:p>
                    <a:p>
                      <a:r>
                        <a:rPr sz="675">
                          <a:solidFill>
                            <a:srgbClr val="1720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龙2 百克生物</a:t>
                      </a:r>
                    </a:p>
                    <a:p>
                      <a:r>
                        <a:rPr sz="675">
                          <a:solidFill>
                            <a:srgbClr val="1720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龙3 康希诺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75">
                          <a:solidFill>
                            <a:srgbClr val="1720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龙1 双鹭药业</a:t>
                      </a:r>
                    </a:p>
                    <a:p>
                      <a:r>
                        <a:rPr sz="675">
                          <a:solidFill>
                            <a:srgbClr val="1720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龙2 键凯科技</a:t>
                      </a:r>
                    </a:p>
                    <a:p>
                      <a:r>
                        <a:rPr sz="675">
                          <a:solidFill>
                            <a:srgbClr val="1720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龙3 中关村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75">
                          <a:solidFill>
                            <a:srgbClr val="1720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龙1退位仍在前三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r>
                        <a:rPr sz="675">
                          <a:solidFill>
                            <a:srgbClr val="1720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重庆市</a:t>
                      </a:r>
                    </a:p>
                  </a:txBody>
                  <a:tcPr marL="76200" marR="76200" marT="38100" marB="38100">
                    <a:solidFill>
                      <a:srgbClr val="F1EE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75">
                          <a:solidFill>
                            <a:srgbClr val="1720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龙1 财信发展</a:t>
                      </a:r>
                    </a:p>
                    <a:p>
                      <a:r>
                        <a:rPr sz="675">
                          <a:solidFill>
                            <a:srgbClr val="1720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龙2 重庆建工</a:t>
                      </a:r>
                    </a:p>
                    <a:p>
                      <a:r>
                        <a:rPr sz="675">
                          <a:solidFill>
                            <a:srgbClr val="1720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龙3 渝开发</a:t>
                      </a:r>
                    </a:p>
                  </a:txBody>
                  <a:tcPr marL="76200" marR="76200" marT="38100" marB="38100">
                    <a:solidFill>
                      <a:srgbClr val="F1EE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75">
                          <a:solidFill>
                            <a:srgbClr val="1720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龙1 重庆建工</a:t>
                      </a:r>
                    </a:p>
                    <a:p>
                      <a:r>
                        <a:rPr sz="675">
                          <a:solidFill>
                            <a:srgbClr val="1720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龙2 渝开发</a:t>
                      </a:r>
                    </a:p>
                    <a:p>
                      <a:r>
                        <a:rPr sz="675">
                          <a:solidFill>
                            <a:srgbClr val="1720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龙3 —</a:t>
                      </a:r>
                    </a:p>
                  </a:txBody>
                  <a:tcPr marL="76200" marR="76200" marT="38100" marB="38100">
                    <a:solidFill>
                      <a:srgbClr val="F1EE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75">
                          <a:solidFill>
                            <a:srgbClr val="1720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龙1退出/无后续</a:t>
                      </a:r>
                    </a:p>
                  </a:txBody>
                  <a:tcPr marL="76200" marR="76200" marT="38100" marB="38100">
                    <a:solidFill>
                      <a:srgbClr val="F1EEE6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r>
                        <a:rPr sz="675">
                          <a:solidFill>
                            <a:srgbClr val="1720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钍基熔盐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75">
                          <a:solidFill>
                            <a:srgbClr val="1720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龙1 兰石重装</a:t>
                      </a:r>
                    </a:p>
                    <a:p>
                      <a:r>
                        <a:rPr sz="675">
                          <a:solidFill>
                            <a:srgbClr val="1720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龙2 浙富控股</a:t>
                      </a:r>
                    </a:p>
                    <a:p>
                      <a:r>
                        <a:rPr sz="675">
                          <a:solidFill>
                            <a:srgbClr val="1720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龙3 海陆重工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75">
                          <a:solidFill>
                            <a:srgbClr val="1720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龙1 兰石重装</a:t>
                      </a:r>
                    </a:p>
                    <a:p>
                      <a:r>
                        <a:rPr sz="675">
                          <a:solidFill>
                            <a:srgbClr val="1720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龙2 海陆重工</a:t>
                      </a:r>
                    </a:p>
                    <a:p>
                      <a:r>
                        <a:rPr sz="675">
                          <a:solidFill>
                            <a:srgbClr val="1720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龙3 宝色股份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75">
                          <a:solidFill>
                            <a:srgbClr val="1720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龙1守位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70807142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3E8B95-241C-43E0-BDFE-0852B667B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5C4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33B4EC-4790-476A-AE23-7831DE4F4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85C4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D85C41"/>
                </a:solidFill>
                <a:latin typeface="Microsoft YaHei"/>
                <a:ea typeface="Microsoft YaHei"/>
                <a:cs typeface="Microsoft YaHei"/>
              </a:rPr>
              <a:t>长案例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428B2A-1389-4D0E-9551-C5FD61CAB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rPr>
              <a:t>一季报增长：长段行情中，段首龙位很快被多次替换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A8EA9D-4ED8-4392-9AA5-6F254F2E6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8EAC91-0FF7-4CF6-92E9-8A0376190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2025-10-30 — 2026-08-31  ·  描述性研究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4466A9-E5CF-4CCC-BAAC-D19CEC7E7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032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D85C4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D85C41"/>
                </a:solidFill>
                <a:latin typeface="Microsoft YaHei"/>
                <a:ea typeface="Microsoft YaHei"/>
                <a:cs typeface="Microsoft YaHei"/>
              </a:rPr>
              <a:t>21</a:t>
            </a:r>
          </a:p>
        </p:txBody>
      </p:sp>
      <p:graphicFrame>
        <p:nvGraphicFramePr>
          <p:cNvPr id="20" name=""/>
          <p:cNvGraphicFramePr/>
          <p:nvPr/>
        </p:nvGraphicFramePr>
        <p:xfrm>
          <a:off xmlns:a="http://schemas.openxmlformats.org/drawingml/2006/main" x="723900" y="1466850"/>
          <a:ext xmlns:a="http://schemas.openxmlformats.org/drawingml/2006/main" cx="7620000" cy="4476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428750"/>
                <a:gridCol w="857250"/>
                <a:gridCol w="1619250"/>
                <a:gridCol w="1619250"/>
                <a:gridCol w="1619250"/>
                <a:gridCol w="952500"/>
              </a:tblGrid>
              <a:tr h="497417"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日期</a:t>
                      </a:r>
                    </a:p>
                  </a:txBody>
                  <a:tcPr marL="76200" marR="76200" marT="47625" marB="47625"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t−T</a:t>
                      </a:r>
                    </a:p>
                  </a:txBody>
                  <a:tcPr marL="76200" marR="76200" marT="47625" marB="47625"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龙1</a:t>
                      </a:r>
                    </a:p>
                  </a:txBody>
                  <a:tcPr marL="76200" marR="76200" marT="47625" marB="47625"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龙2</a:t>
                      </a:r>
                    </a:p>
                  </a:txBody>
                  <a:tcPr marL="76200" marR="76200" marT="47625" marB="47625"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龙3</a:t>
                      </a:r>
                    </a:p>
                  </a:txBody>
                  <a:tcPr marL="76200" marR="76200" marT="47625" marB="47625"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是否活跃</a:t>
                      </a:r>
                    </a:p>
                  </a:txBody>
                  <a:tcPr marL="76200" marR="76200" marT="47625" marB="47625">
                    <a:solidFill>
                      <a:srgbClr val="14213D"/>
                    </a:solidFill>
                  </a:tcPr>
                </a:tc>
              </a:tr>
              <a:tr h="497417"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720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2026-04-08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720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T+0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720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东山精密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720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百龙创园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720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香农芯创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720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是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</a:tr>
              <a:tr h="497417"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720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2026-04-09</a:t>
                      </a:r>
                    </a:p>
                  </a:txBody>
                  <a:tcPr marL="76200" marR="76200" marT="38100" marB="38100">
                    <a:solidFill>
                      <a:srgbClr val="F1EE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720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T+1</a:t>
                      </a:r>
                    </a:p>
                  </a:txBody>
                  <a:tcPr marL="76200" marR="76200" marT="38100" marB="38100">
                    <a:solidFill>
                      <a:srgbClr val="F1EE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720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富春染织</a:t>
                      </a:r>
                    </a:p>
                  </a:txBody>
                  <a:tcPr marL="76200" marR="76200" marT="38100" marB="38100">
                    <a:solidFill>
                      <a:srgbClr val="F1EE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720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黔源电力</a:t>
                      </a:r>
                    </a:p>
                  </a:txBody>
                  <a:tcPr marL="76200" marR="76200" marT="38100" marB="38100">
                    <a:solidFill>
                      <a:srgbClr val="F1EE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720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—</a:t>
                      </a:r>
                    </a:p>
                  </a:txBody>
                  <a:tcPr marL="76200" marR="76200" marT="38100" marB="38100">
                    <a:solidFill>
                      <a:srgbClr val="F1EE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720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否</a:t>
                      </a:r>
                    </a:p>
                  </a:txBody>
                  <a:tcPr marL="76200" marR="76200" marT="38100" marB="38100">
                    <a:solidFill>
                      <a:srgbClr val="F1EEE6"/>
                    </a:solidFill>
                  </a:tcPr>
                </a:tc>
              </a:tr>
              <a:tr h="497417"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720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2026-04-10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720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T+2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720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德业股份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720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纳微科技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720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—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720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否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</a:tr>
              <a:tr h="497417"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720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2026-04-13</a:t>
                      </a:r>
                    </a:p>
                  </a:txBody>
                  <a:tcPr marL="76200" marR="76200" marT="38100" marB="38100">
                    <a:solidFill>
                      <a:srgbClr val="F1EE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720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T+3</a:t>
                      </a:r>
                    </a:p>
                  </a:txBody>
                  <a:tcPr marL="76200" marR="76200" marT="38100" marB="38100">
                    <a:solidFill>
                      <a:srgbClr val="F1EE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720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启明星辰</a:t>
                      </a:r>
                    </a:p>
                  </a:txBody>
                  <a:tcPr marL="76200" marR="76200" marT="38100" marB="38100">
                    <a:solidFill>
                      <a:srgbClr val="F1EE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720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博云新材</a:t>
                      </a:r>
                    </a:p>
                  </a:txBody>
                  <a:tcPr marL="76200" marR="76200" marT="38100" marB="38100">
                    <a:solidFill>
                      <a:srgbClr val="F1EE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720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焦作万方</a:t>
                      </a:r>
                    </a:p>
                  </a:txBody>
                  <a:tcPr marL="76200" marR="76200" marT="38100" marB="38100">
                    <a:solidFill>
                      <a:srgbClr val="F1EE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720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是</a:t>
                      </a:r>
                    </a:p>
                  </a:txBody>
                  <a:tcPr marL="76200" marR="76200" marT="38100" marB="38100">
                    <a:solidFill>
                      <a:srgbClr val="F1EEE6"/>
                    </a:solidFill>
                  </a:tcPr>
                </a:tc>
              </a:tr>
              <a:tr h="497417"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720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2026-04-14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720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T+4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720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博云新材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720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协创数据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720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腾远钴业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720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是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</a:tr>
              <a:tr h="497417"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720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2026-04-15</a:t>
                      </a:r>
                    </a:p>
                  </a:txBody>
                  <a:tcPr marL="76200" marR="76200" marT="38100" marB="38100">
                    <a:solidFill>
                      <a:srgbClr val="F1EE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720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T+5</a:t>
                      </a:r>
                    </a:p>
                  </a:txBody>
                  <a:tcPr marL="76200" marR="76200" marT="38100" marB="38100">
                    <a:solidFill>
                      <a:srgbClr val="F1EE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720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申通快递</a:t>
                      </a:r>
                    </a:p>
                  </a:txBody>
                  <a:tcPr marL="76200" marR="76200" marT="38100" marB="38100">
                    <a:solidFill>
                      <a:srgbClr val="F1EE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720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吉比特</a:t>
                      </a:r>
                    </a:p>
                  </a:txBody>
                  <a:tcPr marL="76200" marR="76200" marT="38100" marB="38100">
                    <a:solidFill>
                      <a:srgbClr val="F1EE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720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丽江股份</a:t>
                      </a:r>
                    </a:p>
                  </a:txBody>
                  <a:tcPr marL="76200" marR="76200" marT="38100" marB="38100">
                    <a:solidFill>
                      <a:srgbClr val="F1EE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720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是</a:t>
                      </a:r>
                    </a:p>
                  </a:txBody>
                  <a:tcPr marL="76200" marR="76200" marT="38100" marB="38100">
                    <a:solidFill>
                      <a:srgbClr val="F1EEE6"/>
                    </a:solidFill>
                  </a:tcPr>
                </a:tc>
              </a:tr>
              <a:tr h="497417"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720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2026-04-16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720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T+6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720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博云新材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720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申通快递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720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龙蟠科技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720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是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</a:tr>
              <a:tr h="497417"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720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2026-04-17</a:t>
                      </a:r>
                    </a:p>
                  </a:txBody>
                  <a:tcPr marL="76200" marR="76200" marT="38100" marB="38100">
                    <a:solidFill>
                      <a:srgbClr val="F1EE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720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T+7</a:t>
                      </a:r>
                    </a:p>
                  </a:txBody>
                  <a:tcPr marL="76200" marR="76200" marT="38100" marB="38100">
                    <a:solidFill>
                      <a:srgbClr val="F1EE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720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博云新材</a:t>
                      </a:r>
                    </a:p>
                  </a:txBody>
                  <a:tcPr marL="76200" marR="76200" marT="38100" marB="38100">
                    <a:solidFill>
                      <a:srgbClr val="F1EE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720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株冶集团</a:t>
                      </a:r>
                    </a:p>
                  </a:txBody>
                  <a:tcPr marL="76200" marR="76200" marT="38100" marB="38100">
                    <a:solidFill>
                      <a:srgbClr val="F1EE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720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鲁北化工</a:t>
                      </a:r>
                    </a:p>
                  </a:txBody>
                  <a:tcPr marL="76200" marR="76200" marT="38100" marB="38100">
                    <a:solidFill>
                      <a:srgbClr val="F1EE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720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是</a:t>
                      </a:r>
                    </a:p>
                  </a:txBody>
                  <a:tcPr marL="76200" marR="76200" marT="38100" marB="38100">
                    <a:solidFill>
                      <a:srgbClr val="F1EEE6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64E70E-61B0-4869-9073-D57151DEC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657350"/>
            <a:ext cx="23812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7EAC5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C7DF60-6050-47DC-9B26-AD61C8C61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752600"/>
            <a:ext cx="2076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392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rPr>
              <a:t>段首前三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0B8DBC-1C17-4B73-9E21-A22DA7651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209800"/>
            <a:ext cx="23812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440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344054"/>
                </a:solidFill>
                <a:latin typeface="Microsoft YaHei"/>
                <a:ea typeface="Microsoft YaHei"/>
                <a:cs typeface="Microsoft YaHei"/>
              </a:rPr>
              <a:t>龙1 东山精密</a:t>
            </a:r>
          </a:p>
          <a:p xmlns:a="http://schemas.openxmlformats.org/drawingml/2006/main">
            <a:pPr algn="l">
              <a:defRPr sz="1200" b="1">
                <a:solidFill>
                  <a:srgbClr val="3440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344054"/>
                </a:solidFill>
                <a:latin typeface="Microsoft YaHei"/>
                <a:ea typeface="Microsoft YaHei"/>
                <a:cs typeface="Microsoft YaHei"/>
              </a:rPr>
              <a:t>龙2 百龙创园</a:t>
            </a:r>
          </a:p>
          <a:p xmlns:a="http://schemas.openxmlformats.org/drawingml/2006/main">
            <a:pPr algn="l">
              <a:defRPr sz="1200" b="1">
                <a:solidFill>
                  <a:srgbClr val="3440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344054"/>
                </a:solidFill>
                <a:latin typeface="Microsoft YaHei"/>
                <a:ea typeface="Microsoft YaHei"/>
                <a:cs typeface="Microsoft YaHei"/>
              </a:rPr>
              <a:t>龙3 香农芯创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5E79ED-D4E2-47C3-8673-F19224324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657600"/>
            <a:ext cx="23812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DDEFEA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33FAA7-97FC-4031-8F6C-9E52AA8D8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752850"/>
            <a:ext cx="2076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392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rPr>
              <a:t>冻结日前三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8CE544-DB0B-4704-8EFE-78D3CA753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210050"/>
            <a:ext cx="23812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440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344054"/>
                </a:solidFill>
                <a:latin typeface="Microsoft YaHei"/>
                <a:ea typeface="Microsoft YaHei"/>
                <a:cs typeface="Microsoft YaHei"/>
              </a:rPr>
              <a:t>龙1 博云新材</a:t>
            </a:r>
          </a:p>
          <a:p xmlns:a="http://schemas.openxmlformats.org/drawingml/2006/main">
            <a:pPr algn="l">
              <a:defRPr sz="1200" b="1">
                <a:solidFill>
                  <a:srgbClr val="3440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344054"/>
                </a:solidFill>
                <a:latin typeface="Microsoft YaHei"/>
                <a:ea typeface="Microsoft YaHei"/>
                <a:cs typeface="Microsoft YaHei"/>
              </a:rPr>
              <a:t>龙2 协创数据</a:t>
            </a:r>
          </a:p>
          <a:p xmlns:a="http://schemas.openxmlformats.org/drawingml/2006/main">
            <a:pPr algn="l">
              <a:defRPr sz="1200" b="1">
                <a:solidFill>
                  <a:srgbClr val="3440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344054"/>
                </a:solidFill>
                <a:latin typeface="Microsoft YaHei"/>
                <a:ea typeface="Microsoft YaHei"/>
                <a:cs typeface="Microsoft YaHei"/>
              </a:rPr>
              <a:t>龙3 腾远钴业</a:t>
            </a:r>
          </a:p>
        </p:txBody>
      </p:sp>
    </p:spTree>
    <p:extLst>
      <p:ext uri="{BB962C8B-B14F-4D97-AF65-F5344CB8AC3E}">
        <p14:creationId xmlns:p14="http://schemas.microsoft.com/office/powerpoint/2010/main" val="1209412459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BBD381F-9A72-4FD5-BBE4-335E5A916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5C4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03DAF3-604B-488E-B23A-AEF81E1D6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85C4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D85C41"/>
                </a:solidFill>
                <a:latin typeface="Microsoft YaHei"/>
                <a:ea typeface="Microsoft YaHei"/>
                <a:cs typeface="Microsoft YaHei"/>
              </a:rPr>
              <a:t>容量中军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65D04F-F5F0-4386-A98E-8AEEC0E0C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rPr>
              <a:t>容量中军怎么选：候选门槛、评分与覆盖率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B71539-97DF-4BDF-8159-407973D4F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A6A1ED-CE04-4521-BBEE-5061B7668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2025-10-30 — 2026-08-31  ·  描述性研究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D8CFC7-67A9-45FF-AE59-36BE85CEA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032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D85C4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D85C41"/>
                </a:solidFill>
                <a:latin typeface="Microsoft YaHei"/>
                <a:ea typeface="Microsoft YaHei"/>
                <a:cs typeface="Microsoft YaHei"/>
              </a:rPr>
              <a:t>22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B4EC29-4D98-4CA5-BBBE-7AEDFE40F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04950"/>
            <a:ext cx="4953000" cy="3486150"/>
          </a:xfrm>
          <a:prstGeom xmlns:a="http://schemas.openxmlformats.org/drawingml/2006/main" prst="roundRect">
            <a:avLst>
              <a:gd name="adj" fmla="val 2186"/>
            </a:avLst>
          </a:prstGeom>
          <a:solidFill xmlns:a="http://schemas.openxmlformats.org/drawingml/2006/main">
            <a:srgbClr val="DDEFEA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BF70D3-15AA-49C1-B3FF-7C2260928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676400"/>
            <a:ext cx="438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611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rPr>
              <a:t>选择依据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0200D4-254E-49DA-B1CA-46106FE55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33600"/>
            <a:ext cx="4381500" cy="2686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440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344054"/>
                </a:solidFill>
                <a:latin typeface="Microsoft YaHei"/>
                <a:ea typeface="Microsoft YaHei"/>
                <a:cs typeface="Microsoft YaHei"/>
              </a:rPr>
              <a:t>候选范围：冻结日同题材精确成分，SH/SZ，排除ST/异常交易所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3440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344054"/>
                </a:solidFill>
                <a:latin typeface="Microsoft YaHei"/>
                <a:ea typeface="Microsoft YaHei"/>
                <a:cs typeface="Microsoft YaHei"/>
              </a:rPr>
              <a:t>门槛：</a:t>
            </a:r>
          </a:p>
          <a:p xmlns:a="http://schemas.openxmlformats.org/drawingml/2006/main">
            <a:pPr algn="l">
              <a:defRPr sz="1200" b="0">
                <a:solidFill>
                  <a:srgbClr val="3440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344054"/>
                </a:solidFill>
                <a:latin typeface="Microsoft YaHei"/>
                <a:ea typeface="Microsoft YaHei"/>
                <a:cs typeface="Microsoft YaHei"/>
              </a:rPr>
              <a:t>• 自由流通市值分位 ≥ 80%</a:t>
            </a:r>
          </a:p>
          <a:p xmlns:a="http://schemas.openxmlformats.org/drawingml/2006/main">
            <a:pPr algn="l">
              <a:defRPr sz="1200" b="0">
                <a:solidFill>
                  <a:srgbClr val="3440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344054"/>
                </a:solidFill>
                <a:latin typeface="Microsoft YaHei"/>
                <a:ea typeface="Microsoft YaHei"/>
                <a:cs typeface="Microsoft YaHei"/>
              </a:rPr>
              <a:t>• 成交额分位 ≥ 70%</a:t>
            </a:r>
          </a:p>
          <a:p xmlns:a="http://schemas.openxmlformats.org/drawingml/2006/main">
            <a:pPr algn="l">
              <a:defRPr sz="1200" b="0">
                <a:solidFill>
                  <a:srgbClr val="3440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344054"/>
                </a:solidFill>
                <a:latin typeface="Microsoft YaHei"/>
                <a:ea typeface="Microsoft YaHei"/>
                <a:cs typeface="Microsoft YaHei"/>
              </a:rPr>
              <a:t>• 三项字段完整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3440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344054"/>
                </a:solidFill>
                <a:latin typeface="Microsoft YaHei"/>
                <a:ea typeface="Microsoft YaHei"/>
                <a:cs typeface="Microsoft YaHei"/>
              </a:rPr>
              <a:t>评分：0.55×市值分位 + 0.35×成交额分位 + 0.10×涨幅分位</a:t>
            </a:r>
          </a:p>
          <a:p xmlns:a="http://schemas.openxmlformats.org/drawingml/2006/main">
            <a:pPr algn="l">
              <a:defRPr sz="1200" b="0">
                <a:solidFill>
                  <a:srgbClr val="3440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344054"/>
                </a:solidFill>
                <a:latin typeface="Microsoft YaHei"/>
                <a:ea typeface="Microsoft YaHei"/>
                <a:cs typeface="Microsoft YaHei"/>
              </a:rPr>
              <a:t>取第1名为主中军，第2名为备选。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4B2705-FDFE-4FEC-AB8F-3DD0A2674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65735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rPr>
              <a:t>793 段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E19003-71F6-42C8-B928-28E60BCC4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190750"/>
            <a:ext cx="40005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AEFF5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0ED701-5E6F-413A-810D-C62CD9CD9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333625"/>
            <a:ext cx="361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4777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4777B8"/>
                </a:solidFill>
                <a:latin typeface="Microsoft YaHei"/>
                <a:ea typeface="Microsoft YaHei"/>
                <a:cs typeface="Microsoft YaHei"/>
              </a:rPr>
              <a:t>有冻结日 407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C951BC-0693-4838-9E68-BA041937A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105150"/>
            <a:ext cx="28194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7EAC5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CFD863-92AD-4F37-AC69-2FCAE3B9D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248025"/>
            <a:ext cx="2438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E9C4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E9C46A"/>
                </a:solidFill>
                <a:latin typeface="Microsoft YaHei"/>
                <a:ea typeface="Microsoft YaHei"/>
                <a:cs typeface="Microsoft YaHei"/>
              </a:rPr>
              <a:t>精确映射 70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E2582EB-CA8A-4C4B-9904-8BBA32B0D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019550"/>
            <a:ext cx="18288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7E4DE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B69653D-1CB4-4C60-B977-9D9CF8C75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162425"/>
            <a:ext cx="1638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D85C4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D85C41"/>
                </a:solidFill>
                <a:latin typeface="Microsoft YaHei"/>
                <a:ea typeface="Microsoft YaHei"/>
                <a:cs typeface="Microsoft YaHei"/>
              </a:rPr>
              <a:t>明确中军 70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7F79C5C-F5E4-47D5-A0F6-60ADFDA51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5181600"/>
            <a:ext cx="43815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14213D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27760D0-9E74-4C25-B554-4CA390FA1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5276850"/>
            <a:ext cx="4076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385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映射与中军覆盖完全重合，不能比较“有中军 vs 无中军”。</a:t>
            </a:r>
          </a:p>
        </p:txBody>
      </p:sp>
    </p:spTree>
    <p:extLst>
      <p:ext uri="{BB962C8B-B14F-4D97-AF65-F5344CB8AC3E}">
        <p14:creationId xmlns:p14="http://schemas.microsoft.com/office/powerpoint/2010/main" val="1522377697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ABF8EC4-2B52-4F6D-8AA9-6DC21FB32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5C4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DE1B66-CC2A-4892-BF96-A8E1293F2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85C4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D85C41"/>
                </a:solidFill>
                <a:latin typeface="Microsoft YaHei"/>
                <a:ea typeface="Microsoft YaHei"/>
                <a:cs typeface="Microsoft YaHei"/>
              </a:rPr>
              <a:t>容量中军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F7A19A-E1FA-462C-8F55-0FEE52E3A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rPr>
              <a:t>中军状态暂时不能单独解释题材延续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A8BB47-AC24-4416-8ED8-B2EC5FA46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8D7C9B-C594-43A6-A1FB-AC65DB0DA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2025-10-30 — 2026-08-31  ·  描述性研究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34E492-7E51-402E-A2AB-11D96FCE2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032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D85C4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D85C41"/>
                </a:solidFill>
                <a:latin typeface="Microsoft YaHei"/>
                <a:ea typeface="Microsoft YaHei"/>
                <a:cs typeface="Microsoft YaHei"/>
              </a:rPr>
              <a:t>23</a:t>
            </a:r>
          </a:p>
        </p:txBody>
      </p:sp>
      <p:graphicFrame>
        <p:nvGraphicFramePr>
          <p:cNvPr id="24" name="Chart"/>
          <p:cNvGraphicFramePr/>
          <p:nvPr/>
        </p:nvGraphicFramePr>
        <p:xfrm>
          <a:off xmlns:a="http://schemas.openxmlformats.org/drawingml/2006/main" x="723900" y="1581150"/>
          <a:ext xmlns:a="http://schemas.openxmlformats.org/drawingml/2006/main" cx="7524750" cy="3905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3c567e31e4c4f85"/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3977C0-383E-49D5-8C46-904F544E4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1695450"/>
            <a:ext cx="25717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DED4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86F7B8-A3F3-4355-9A3D-D442AB071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1847850"/>
            <a:ext cx="2228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518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D85C4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D85C41"/>
                </a:solidFill>
                <a:latin typeface="Microsoft YaHei"/>
                <a:ea typeface="Microsoft YaHei"/>
                <a:cs typeface="Microsoft YaHei"/>
              </a:rPr>
              <a:t>32 / 70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894323-F2AD-44BD-AEB4-41342F7BF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343150"/>
            <a:ext cx="2228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出现过主中军weak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ED6F7B-979F-4BE9-8680-987D285D7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628900"/>
            <a:ext cx="2228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45.7%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5328A1-91ED-4AF5-8E69-482E3B7B8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181350"/>
            <a:ext cx="25717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DED4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8E113C-3943-4ADC-88C6-8FAE424EA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333750"/>
            <a:ext cx="2228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518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A9D8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2A9D8F"/>
                </a:solidFill>
                <a:latin typeface="Microsoft YaHei"/>
                <a:ea typeface="Microsoft YaHei"/>
                <a:cs typeface="Microsoft YaHei"/>
              </a:rPr>
              <a:t>2天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FE6435-3C65-47A2-9555-EBA1E49D1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829050"/>
            <a:ext cx="2228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首次weak到段尾中位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C94821B-2575-43C6-8ED9-54B7BC17B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4114800"/>
            <a:ext cx="2228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P25=1｜P75=4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F269C88-2E7C-467F-9D52-6A3D50B8F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667250"/>
            <a:ext cx="257175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F7EAC5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E135CF2-0AC7-4EB4-B141-89BDC135E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762500"/>
            <a:ext cx="22669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rPr>
              <a:t>weak后题材仍活跃67.9%，不呈单调关系。</a:t>
            </a:r>
          </a:p>
        </p:txBody>
      </p:sp>
    </p:spTree>
    <p:extLst>
      <p:ext uri="{BB962C8B-B14F-4D97-AF65-F5344CB8AC3E}">
        <p14:creationId xmlns:p14="http://schemas.microsoft.com/office/powerpoint/2010/main" val="254034235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8BE2C4-23D1-464C-8BCD-77801FF12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5C4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7CB2E5-892B-46C6-B2ED-4DF7BDA07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85C4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D85C41"/>
                </a:solidFill>
                <a:latin typeface="Microsoft YaHei"/>
                <a:ea typeface="Microsoft YaHei"/>
                <a:cs typeface="Microsoft YaHei"/>
              </a:rPr>
              <a:t>收益边界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DF315B-CE18-48C8-B03D-30CB8B827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rPr>
              <a:t>678只龙股的四个收益口径：可比，但含义完全不同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B74E3C-4366-4563-AE31-7CF9AD5A2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DE06D2-FDF0-4E7A-A2C5-1872571BE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2025-10-30 — 2026-08-31  ·  描述性研究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B51F4F-48AC-44E0-9112-F5223F868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032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D85C4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D85C41"/>
                </a:solidFill>
                <a:latin typeface="Microsoft YaHei"/>
                <a:ea typeface="Microsoft YaHei"/>
                <a:cs typeface="Microsoft YaHei"/>
              </a:rPr>
              <a:t>24</a:t>
            </a:r>
          </a:p>
        </p:txBody>
      </p:sp>
      <p:graphicFrame>
        <p:nvGraphicFramePr>
          <p:cNvPr id="17" name=""/>
          <p:cNvGraphicFramePr/>
          <p:nvPr/>
        </p:nvGraphicFramePr>
        <p:xfrm>
          <a:off xmlns:a="http://schemas.openxmlformats.org/drawingml/2006/main" x="723900" y="1619250"/>
          <a:ext xmlns:a="http://schemas.openxmlformats.org/drawingml/2006/main" cx="10668000" cy="2857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00250"/>
                <a:gridCol w="4953000"/>
                <a:gridCol w="3714750"/>
              </a:tblGrid>
              <a:tr h="571500"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指标</a:t>
                      </a:r>
                    </a:p>
                  </a:txBody>
                  <a:tcPr marL="76200" marR="76200" marT="47625" marB="47625"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窗口/算法</a:t>
                      </a:r>
                    </a:p>
                  </a:txBody>
                  <a:tcPr marL="76200" marR="76200" marT="47625" marB="47625"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正确解读</a:t>
                      </a:r>
                    </a:p>
                  </a:txBody>
                  <a:tcPr marL="76200" marR="76200" marT="47625" marB="47625">
                    <a:solidFill>
                      <a:srgbClr val="14213D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720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2026 YTD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720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2026首个可得交易日至2026-08-31日收益复利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720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年度至今，不等于研究区间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720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研究区间收益</a:t>
                      </a:r>
                    </a:p>
                  </a:txBody>
                  <a:tcPr marL="76200" marR="76200" marT="38100" marB="38100">
                    <a:solidFill>
                      <a:srgbClr val="F1EE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720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2025-10-30至2026-08-31日收益复利</a:t>
                      </a:r>
                    </a:p>
                  </a:txBody>
                  <a:tcPr marL="76200" marR="76200" marT="38100" marB="38100">
                    <a:solidFill>
                      <a:srgbClr val="F1EE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720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完整研究窗口；上市晚则从可得日开始</a:t>
                      </a:r>
                    </a:p>
                  </a:txBody>
                  <a:tcPr marL="76200" marR="76200" marT="38100" marB="38100">
                    <a:solidFill>
                      <a:srgbClr val="F1EEE6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720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最低→后续最高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720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复权日线最低价后出现的最高价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720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神抄底边界；同日顺序不可知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720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最高→后续最低</a:t>
                      </a:r>
                    </a:p>
                  </a:txBody>
                  <a:tcPr marL="76200" marR="76200" marT="38100" marB="38100">
                    <a:solidFill>
                      <a:srgbClr val="F1EE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720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复权日线最高价后出现的最低价</a:t>
                      </a:r>
                    </a:p>
                  </a:txBody>
                  <a:tcPr marL="76200" marR="76200" marT="38100" marB="38100">
                    <a:solidFill>
                      <a:srgbClr val="F1EE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720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山顶买入边界；路径极端风险</a:t>
                      </a:r>
                    </a:p>
                  </a:txBody>
                  <a:tcPr marL="76200" marR="76200" marT="38100" marB="38100">
                    <a:solidFill>
                      <a:srgbClr val="F1EEE6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422C3F-D8B1-42B0-9B19-7977CEC29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38700"/>
            <a:ext cx="106680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7E4DE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48DF9D-9281-46FE-8628-2330BEEAA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33950"/>
            <a:ext cx="10363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rPr>
              <a:t>后两项是日线极端边界，不是可实现回测收益；不得用于宣称策略表现。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FDE610-CB68-4029-AF84-C7BD99C95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65785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440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344054"/>
                </a:solidFill>
                <a:latin typeface="Microsoft YaHei"/>
                <a:ea typeface="Microsoft YaHei"/>
                <a:cs typeface="Microsoft YaHei"/>
              </a:rPr>
              <a:t>完整678行表包含股票、身份、题材、行情段、观测区间、缺失标记和四个收益字段。</a:t>
            </a:r>
          </a:p>
        </p:txBody>
      </p:sp>
    </p:spTree>
    <p:extLst>
      <p:ext uri="{BB962C8B-B14F-4D97-AF65-F5344CB8AC3E}">
        <p14:creationId xmlns:p14="http://schemas.microsoft.com/office/powerpoint/2010/main" val="1655793261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916B289-833A-42EE-9032-7393BEE20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5C4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E03927-B9E2-4A3B-9AA1-6B7C34443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85C4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D85C41"/>
                </a:solidFill>
                <a:latin typeface="Microsoft YaHei"/>
                <a:ea typeface="Microsoft YaHei"/>
                <a:cs typeface="Microsoft YaHei"/>
              </a:rPr>
              <a:t>收益汇总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772276-E676-4D7F-80B2-B58B0ED1D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rPr>
              <a:t>研究区间收益中位数+7.1%，但极端路径同时很大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2FCFF5-5397-4573-A722-F0F331682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BBEECD-E142-4C21-821A-7F36D6CA2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2025-10-30 — 2026-08-31  ·  描述性研究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005933-CF07-4E2F-8A42-9B4FD8B21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032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D85C4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D85C41"/>
                </a:solidFill>
                <a:latin typeface="Microsoft YaHei"/>
                <a:ea typeface="Microsoft YaHei"/>
                <a:cs typeface="Microsoft YaHei"/>
              </a:rPr>
              <a:t>25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227402-8C22-43C6-8CCD-575EE01CA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57350"/>
            <a:ext cx="31432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DED4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0C95A2-FDA6-4275-9835-F027E9068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809750"/>
            <a:ext cx="2800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518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D85C4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D85C41"/>
                </a:solidFill>
                <a:latin typeface="Microsoft YaHei"/>
                <a:ea typeface="Microsoft YaHei"/>
                <a:cs typeface="Microsoft YaHei"/>
              </a:rPr>
              <a:t>+7.1%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601E90-D81D-47C1-A397-F6E0D392A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05050"/>
            <a:ext cx="2800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研究区间收益中位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DF7185-8092-4029-B82B-5CF8C268E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90800"/>
            <a:ext cx="2800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正收益比例58.6%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B9D66A-EEDE-488F-9895-9E4C206A4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657350"/>
            <a:ext cx="31432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DED4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40FD2E-50BD-414C-8A83-1D58BC74A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809750"/>
            <a:ext cx="2800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518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A9D8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2A9D8F"/>
                </a:solidFill>
                <a:latin typeface="Microsoft YaHei"/>
                <a:ea typeface="Microsoft YaHei"/>
                <a:cs typeface="Microsoft YaHei"/>
              </a:rPr>
              <a:t>+97.6%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BBDC47-5F44-42E3-9C81-7327A1F3E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305050"/>
            <a:ext cx="2800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最低→后续最高中位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2AFC326-F1E0-40C1-9944-7C8056FD2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590800"/>
            <a:ext cx="2800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神抄底上界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0E5A58E-0C87-47CF-9BDE-891C4A519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1657350"/>
            <a:ext cx="31432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DED4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9AE2AEE-2A9D-410F-9E7A-C908400B0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809750"/>
            <a:ext cx="2800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518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E9C4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E9C46A"/>
                </a:solidFill>
                <a:latin typeface="Microsoft YaHei"/>
                <a:ea typeface="Microsoft YaHei"/>
                <a:cs typeface="Microsoft YaHei"/>
              </a:rPr>
              <a:t>−53.4%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01341F9-6856-43DC-94AE-C11E81A93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305050"/>
            <a:ext cx="2800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最高→后续最低中位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4E43A61-678E-4A36-99A4-2F53FCB20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590800"/>
            <a:ext cx="2800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山顶买入下界</a:t>
            </a:r>
          </a:p>
        </p:txBody>
      </p:sp>
      <p:graphicFrame>
        <p:nvGraphicFramePr>
          <p:cNvPr id="38" name=""/>
          <p:cNvGraphicFramePr/>
          <p:nvPr/>
        </p:nvGraphicFramePr>
        <p:xfrm>
          <a:off xmlns:a="http://schemas.openxmlformats.org/drawingml/2006/main" x="1200150" y="3524250"/>
          <a:ext xmlns:a="http://schemas.openxmlformats.org/drawingml/2006/main" cx="9715500" cy="2000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76500"/>
                <a:gridCol w="1809750"/>
                <a:gridCol w="1809750"/>
                <a:gridCol w="1809750"/>
                <a:gridCol w="1809750"/>
              </a:tblGrid>
              <a:tr h="500063"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指标</a:t>
                      </a:r>
                    </a:p>
                  </a:txBody>
                  <a:tcPr marL="76200" marR="76200" marT="47625" marB="47625"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P25</a:t>
                      </a:r>
                    </a:p>
                  </a:txBody>
                  <a:tcPr marL="76200" marR="76200" marT="47625" marB="47625"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中位数</a:t>
                      </a:r>
                    </a:p>
                  </a:txBody>
                  <a:tcPr marL="76200" marR="76200" marT="47625" marB="47625"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均值</a:t>
                      </a:r>
                    </a:p>
                  </a:txBody>
                  <a:tcPr marL="76200" marR="76200" marT="47625" marB="47625"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P75</a:t>
                      </a:r>
                    </a:p>
                  </a:txBody>
                  <a:tcPr marL="76200" marR="76200" marT="47625" marB="47625">
                    <a:solidFill>
                      <a:srgbClr val="14213D"/>
                    </a:solidFill>
                  </a:tcPr>
                </a:tc>
              </a:tr>
              <a:tr h="500063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0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研究区间收益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0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−14.0%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0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+7.1%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0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+30.7%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0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+48.0%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</a:tr>
              <a:tr h="500063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0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最低→后续最高</a:t>
                      </a:r>
                    </a:p>
                  </a:txBody>
                  <a:tcPr marL="76200" marR="76200" marT="38100" marB="38100">
                    <a:solidFill>
                      <a:srgbClr val="F1EE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0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+61.1%</a:t>
                      </a:r>
                    </a:p>
                  </a:txBody>
                  <a:tcPr marL="76200" marR="76200" marT="38100" marB="38100">
                    <a:solidFill>
                      <a:srgbClr val="F1EE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0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+97.6%</a:t>
                      </a:r>
                    </a:p>
                  </a:txBody>
                  <a:tcPr marL="76200" marR="76200" marT="38100" marB="38100">
                    <a:solidFill>
                      <a:srgbClr val="F1EE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0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+142.0%</a:t>
                      </a:r>
                    </a:p>
                  </a:txBody>
                  <a:tcPr marL="76200" marR="76200" marT="38100" marB="38100">
                    <a:solidFill>
                      <a:srgbClr val="F1EE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0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+163.2%</a:t>
                      </a:r>
                    </a:p>
                  </a:txBody>
                  <a:tcPr marL="76200" marR="76200" marT="38100" marB="38100">
                    <a:solidFill>
                      <a:srgbClr val="F1EEE6"/>
                    </a:solidFill>
                  </a:tcPr>
                </a:tc>
              </a:tr>
              <a:tr h="500063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0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最高→后续最低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0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−59.8%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0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−53.4%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0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−52.6%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0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−46.3%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56853021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62622B-C660-4B0C-8B7C-A44E065B7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5C4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4654E4-4FA0-413A-B02D-C2A0F1D4F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85C4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D85C41"/>
                </a:solidFill>
                <a:latin typeface="Microsoft YaHei"/>
                <a:ea typeface="Microsoft YaHei"/>
                <a:cs typeface="Microsoft YaHei"/>
              </a:rPr>
              <a:t>龙股清单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A2ECE0-091F-4159-B1D3-E42C03984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rPr>
              <a:t>678只龙股明细：四个收益口径并列交付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447358-B4CC-45CA-B8F4-9A04F7A56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F10C37-60DB-4C12-B5B3-554F0371D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2025-10-30 — 2026-08-31  ·  描述性研究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C0A64D-B679-4AEB-85CD-925DA1358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032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D85C4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D85C41"/>
                </a:solidFill>
                <a:latin typeface="Microsoft YaHei"/>
                <a:ea typeface="Microsoft YaHei"/>
                <a:cs typeface="Microsoft YaHei"/>
              </a:rPr>
              <a:t>26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514350" y="1390650"/>
          <a:ext xmlns:a="http://schemas.openxmlformats.org/drawingml/2006/main" cx="11163300" cy="4762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809750"/>
                <a:gridCol w="1428750"/>
                <a:gridCol w="1714500"/>
                <a:gridCol w="1809750"/>
                <a:gridCol w="2190750"/>
                <a:gridCol w="2209800"/>
              </a:tblGrid>
              <a:tr h="432955">
                <a:tc>
                  <a:txBody>
                    <a:bodyPr/>
                    <a:lstStyle/>
                    <a:p>
                      <a:r>
                        <a:rPr sz="8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股票</a:t>
                      </a:r>
                    </a:p>
                  </a:txBody>
                  <a:tcPr marL="76200" marR="76200" marT="47625" marB="47625"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身份</a:t>
                      </a:r>
                    </a:p>
                  </a:txBody>
                  <a:tcPr marL="76200" marR="76200" marT="47625" marB="47625"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2026 YTD</a:t>
                      </a:r>
                    </a:p>
                  </a:txBody>
                  <a:tcPr marL="76200" marR="76200" marT="47625" marB="47625"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研究区间</a:t>
                      </a:r>
                    </a:p>
                  </a:txBody>
                  <a:tcPr marL="76200" marR="76200" marT="47625" marB="47625"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最低→后续最高</a:t>
                      </a:r>
                    </a:p>
                  </a:txBody>
                  <a:tcPr marL="76200" marR="76200" marT="47625" marB="47625"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最高→后续最低</a:t>
                      </a:r>
                    </a:p>
                  </a:txBody>
                  <a:tcPr marL="76200" marR="76200" marT="47625" marB="47625">
                    <a:solidFill>
                      <a:srgbClr val="14213D"/>
                    </a:solidFill>
                  </a:tcPr>
                </a:tc>
              </a:tr>
              <a:tr h="432955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0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利通电子</a:t>
                      </a:r>
                    </a:p>
                    <a:p>
                      <a:r>
                        <a:rPr sz="750">
                          <a:solidFill>
                            <a:srgbClr val="1720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603629.SH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0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实现龙头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0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542.2%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0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620.6%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0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923.7%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0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-49.2%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</a:tr>
              <a:tr h="432955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0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艾艾精工</a:t>
                      </a:r>
                    </a:p>
                    <a:p>
                      <a:r>
                        <a:rPr sz="750">
                          <a:solidFill>
                            <a:srgbClr val="1720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603580.SH</a:t>
                      </a:r>
                    </a:p>
                  </a:txBody>
                  <a:tcPr marL="76200" marR="76200" marT="38100" marB="38100">
                    <a:solidFill>
                      <a:srgbClr val="F1EE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0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实现龙头</a:t>
                      </a:r>
                    </a:p>
                  </a:txBody>
                  <a:tcPr marL="76200" marR="76200" marT="38100" marB="38100">
                    <a:solidFill>
                      <a:srgbClr val="F1EE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0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428.0%</a:t>
                      </a:r>
                    </a:p>
                  </a:txBody>
                  <a:tcPr marL="76200" marR="76200" marT="38100" marB="38100">
                    <a:solidFill>
                      <a:srgbClr val="F1EE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0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471.9%</a:t>
                      </a:r>
                    </a:p>
                  </a:txBody>
                  <a:tcPr marL="76200" marR="76200" marT="38100" marB="38100">
                    <a:solidFill>
                      <a:srgbClr val="F1EE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0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557.9%</a:t>
                      </a:r>
                    </a:p>
                  </a:txBody>
                  <a:tcPr marL="76200" marR="76200" marT="38100" marB="38100">
                    <a:solidFill>
                      <a:srgbClr val="F1EE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0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-31.4%</a:t>
                      </a:r>
                    </a:p>
                  </a:txBody>
                  <a:tcPr marL="76200" marR="76200" marT="38100" marB="38100">
                    <a:solidFill>
                      <a:srgbClr val="F1EEE6"/>
                    </a:solidFill>
                  </a:tcPr>
                </a:tc>
              </a:tr>
              <a:tr h="432955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0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金安国纪</a:t>
                      </a:r>
                    </a:p>
                    <a:p>
                      <a:r>
                        <a:rPr sz="750">
                          <a:solidFill>
                            <a:srgbClr val="1720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002636.SZ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0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实现龙头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0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354.4%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0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388.7%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0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794.5%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0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-62.3%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</a:tr>
              <a:tr h="432955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0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金富科技</a:t>
                      </a:r>
                    </a:p>
                    <a:p>
                      <a:r>
                        <a:rPr sz="750">
                          <a:solidFill>
                            <a:srgbClr val="1720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003018.SZ</a:t>
                      </a:r>
                    </a:p>
                  </a:txBody>
                  <a:tcPr marL="76200" marR="76200" marT="38100" marB="38100">
                    <a:solidFill>
                      <a:srgbClr val="F1EE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0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龙1+实现</a:t>
                      </a:r>
                    </a:p>
                  </a:txBody>
                  <a:tcPr marL="76200" marR="76200" marT="38100" marB="38100">
                    <a:solidFill>
                      <a:srgbClr val="F1EE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0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240.8%</a:t>
                      </a:r>
                    </a:p>
                  </a:txBody>
                  <a:tcPr marL="76200" marR="76200" marT="38100" marB="38100">
                    <a:solidFill>
                      <a:srgbClr val="F1EE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0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387.0%</a:t>
                      </a:r>
                    </a:p>
                  </a:txBody>
                  <a:tcPr marL="76200" marR="76200" marT="38100" marB="38100">
                    <a:solidFill>
                      <a:srgbClr val="F1EE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0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570.9%</a:t>
                      </a:r>
                    </a:p>
                  </a:txBody>
                  <a:tcPr marL="76200" marR="76200" marT="38100" marB="38100">
                    <a:solidFill>
                      <a:srgbClr val="F1EE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0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-57.4%</a:t>
                      </a:r>
                    </a:p>
                  </a:txBody>
                  <a:tcPr marL="76200" marR="76200" marT="38100" marB="38100">
                    <a:solidFill>
                      <a:srgbClr val="F1EEE6"/>
                    </a:solidFill>
                  </a:tcPr>
                </a:tc>
              </a:tr>
              <a:tr h="432955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0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长飞光纤</a:t>
                      </a:r>
                    </a:p>
                    <a:p>
                      <a:r>
                        <a:rPr sz="750">
                          <a:solidFill>
                            <a:srgbClr val="1720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601869.SH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0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实现龙头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0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260.0%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0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360.3%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0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730.1%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0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-57.4%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</a:tr>
              <a:tr h="432955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0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首开股份</a:t>
                      </a:r>
                    </a:p>
                    <a:p>
                      <a:r>
                        <a:rPr sz="750">
                          <a:solidFill>
                            <a:srgbClr val="1720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600376.SH</a:t>
                      </a:r>
                    </a:p>
                  </a:txBody>
                  <a:tcPr marL="76200" marR="76200" marT="38100" marB="38100">
                    <a:solidFill>
                      <a:srgbClr val="F1EE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0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实现龙头</a:t>
                      </a:r>
                    </a:p>
                  </a:txBody>
                  <a:tcPr marL="76200" marR="76200" marT="38100" marB="38100">
                    <a:solidFill>
                      <a:srgbClr val="F1EE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0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-47.1%</a:t>
                      </a:r>
                    </a:p>
                  </a:txBody>
                  <a:tcPr marL="76200" marR="76200" marT="38100" marB="38100">
                    <a:solidFill>
                      <a:srgbClr val="F1EE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0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-47.1%</a:t>
                      </a:r>
                    </a:p>
                  </a:txBody>
                  <a:tcPr marL="76200" marR="76200" marT="38100" marB="38100">
                    <a:solidFill>
                      <a:srgbClr val="F1EE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0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51.0%</a:t>
                      </a:r>
                    </a:p>
                  </a:txBody>
                  <a:tcPr marL="76200" marR="76200" marT="38100" marB="38100">
                    <a:solidFill>
                      <a:srgbClr val="F1EE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0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-62.7%</a:t>
                      </a:r>
                    </a:p>
                  </a:txBody>
                  <a:tcPr marL="76200" marR="76200" marT="38100" marB="38100">
                    <a:solidFill>
                      <a:srgbClr val="F1EEE6"/>
                    </a:solidFill>
                  </a:tcPr>
                </a:tc>
              </a:tr>
              <a:tr h="432955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0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奥特迅</a:t>
                      </a:r>
                    </a:p>
                    <a:p>
                      <a:r>
                        <a:rPr sz="750">
                          <a:solidFill>
                            <a:srgbClr val="1720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002227.SZ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0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龙1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0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-43.4%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0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-48.3%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0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34.6%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0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-68.8%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</a:tr>
              <a:tr h="432955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0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华夏幸福</a:t>
                      </a:r>
                    </a:p>
                    <a:p>
                      <a:r>
                        <a:rPr sz="750">
                          <a:solidFill>
                            <a:srgbClr val="1720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600340.SH</a:t>
                      </a:r>
                    </a:p>
                  </a:txBody>
                  <a:tcPr marL="76200" marR="76200" marT="38100" marB="38100">
                    <a:solidFill>
                      <a:srgbClr val="F1EE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0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实现龙头</a:t>
                      </a:r>
                    </a:p>
                  </a:txBody>
                  <a:tcPr marL="76200" marR="76200" marT="38100" marB="38100">
                    <a:solidFill>
                      <a:srgbClr val="F1EE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0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-49.8%</a:t>
                      </a:r>
                    </a:p>
                  </a:txBody>
                  <a:tcPr marL="76200" marR="76200" marT="38100" marB="38100">
                    <a:solidFill>
                      <a:srgbClr val="F1EE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0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-50.0%</a:t>
                      </a:r>
                    </a:p>
                  </a:txBody>
                  <a:tcPr marL="76200" marR="76200" marT="38100" marB="38100">
                    <a:solidFill>
                      <a:srgbClr val="F1EE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0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72.5%</a:t>
                      </a:r>
                    </a:p>
                  </a:txBody>
                  <a:tcPr marL="76200" marR="76200" marT="38100" marB="38100">
                    <a:solidFill>
                      <a:srgbClr val="F1EE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0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-72.0%</a:t>
                      </a:r>
                    </a:p>
                  </a:txBody>
                  <a:tcPr marL="76200" marR="76200" marT="38100" marB="38100">
                    <a:solidFill>
                      <a:srgbClr val="F1EEE6"/>
                    </a:solidFill>
                  </a:tcPr>
                </a:tc>
              </a:tr>
              <a:tr h="432955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0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实达集团</a:t>
                      </a:r>
                    </a:p>
                    <a:p>
                      <a:r>
                        <a:rPr sz="750">
                          <a:solidFill>
                            <a:srgbClr val="1720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600734.SH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0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龙1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0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-62.4%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0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-50.6%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0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109.5%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0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-79.6%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</a:tr>
              <a:tr h="432955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0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上海洗霸</a:t>
                      </a:r>
                    </a:p>
                    <a:p>
                      <a:r>
                        <a:rPr sz="750">
                          <a:solidFill>
                            <a:srgbClr val="1720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603200.SH</a:t>
                      </a:r>
                    </a:p>
                  </a:txBody>
                  <a:tcPr marL="76200" marR="76200" marT="38100" marB="38100">
                    <a:solidFill>
                      <a:srgbClr val="F1EE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0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龙1</a:t>
                      </a:r>
                    </a:p>
                  </a:txBody>
                  <a:tcPr marL="76200" marR="76200" marT="38100" marB="38100">
                    <a:solidFill>
                      <a:srgbClr val="F1EE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0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-40.4%</a:t>
                      </a:r>
                    </a:p>
                  </a:txBody>
                  <a:tcPr marL="76200" marR="76200" marT="38100" marB="38100">
                    <a:solidFill>
                      <a:srgbClr val="F1EE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0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-54.4%</a:t>
                      </a:r>
                    </a:p>
                  </a:txBody>
                  <a:tcPr marL="76200" marR="76200" marT="38100" marB="38100">
                    <a:solidFill>
                      <a:srgbClr val="F1EE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0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51.2%</a:t>
                      </a:r>
                    </a:p>
                  </a:txBody>
                  <a:tcPr marL="76200" marR="76200" marT="38100" marB="38100">
                    <a:solidFill>
                      <a:srgbClr val="F1EE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720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-67.1%</a:t>
                      </a:r>
                    </a:p>
                  </a:txBody>
                  <a:tcPr marL="76200" marR="76200" marT="38100" marB="38100">
                    <a:solidFill>
                      <a:srgbClr val="F1EEE6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33606397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14213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76FE1BF-C5B5-4445-A09C-7617C0406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9C4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E9C46A"/>
                </a:solidFill>
                <a:latin typeface="Microsoft YaHei"/>
                <a:ea typeface="Microsoft YaHei"/>
                <a:cs typeface="Microsoft YaHei"/>
              </a:rPr>
              <a:t>结论与下一步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06533B-4BAE-428D-9BC4-8B4B1C729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这轮研究建立的五个事实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1243B9-2DF3-457C-87B2-ED2F02F8B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627A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A7D999-BAFE-43C5-B177-456922C3B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B8C2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B8C2D8"/>
                </a:solidFill>
                <a:latin typeface="Microsoft YaHei"/>
                <a:ea typeface="Microsoft YaHei"/>
                <a:cs typeface="Microsoft YaHei"/>
              </a:rPr>
              <a:t>2025-10-30 — 2026-08-31  ·  描述性研究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E50695-195A-4D78-AD18-22C4F6784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032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E9C4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E9C46A"/>
                </a:solidFill>
                <a:latin typeface="Microsoft YaHei"/>
                <a:ea typeface="Microsoft YaHei"/>
                <a:cs typeface="Microsoft YaHei"/>
              </a:rPr>
              <a:t>27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EB7230-5E1F-4EBC-8E41-4666C4CF4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57300"/>
            <a:ext cx="66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E9C4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E9C46A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C6CC80-61BE-4D8F-B5C8-046A3CE8C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125730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题材会反复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52E304-C54D-48A7-A8EC-DF1F74F0C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1238250"/>
            <a:ext cx="7277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CE3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DCE3F0"/>
                </a:solidFill>
                <a:latin typeface="Microsoft YaHei"/>
                <a:ea typeface="Microsoft YaHei"/>
                <a:cs typeface="Microsoft YaHei"/>
              </a:rPr>
              <a:t>80/137个活跃题材退潮后重新成段，但同名不等于同一轮。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EA320C-3720-4F83-9885-58AF34DDB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1866900"/>
            <a:ext cx="9753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5A74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1819D4-AEA1-407A-B208-2AA9D2026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71700"/>
            <a:ext cx="66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E9C4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E9C46A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ED026A-9F66-4C0C-A5B1-07768E106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17170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主线需重验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B16F9A-00F8-4023-A453-118A67120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152650"/>
            <a:ext cx="7277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CE3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DCE3F0"/>
                </a:solidFill>
                <a:latin typeface="Microsoft YaHei"/>
                <a:ea typeface="Microsoft YaHei"/>
                <a:cs typeface="Microsoft YaHei"/>
              </a:rPr>
              <a:t>昨日第一仅27%次日仍第一；新第一常从次主线或前五外产生。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3BD8C1-0A0B-48B4-B330-360663945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781300"/>
            <a:ext cx="9753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5A74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37CA78-073D-442E-A914-CBED54F33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86100"/>
            <a:ext cx="66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E9C4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E9C46A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53D4A2E-B1B5-4B05-BCD4-BB1DD1F0B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08610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龙位有层级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11F852C-60F0-46D2-A8E2-019AE87B3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067050"/>
            <a:ext cx="7277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CE3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DCE3F0"/>
                </a:solidFill>
                <a:latin typeface="Microsoft YaHei"/>
                <a:ea typeface="Microsoft YaHei"/>
                <a:cs typeface="Microsoft YaHei"/>
              </a:rPr>
              <a:t>冻结龙1收益与回撤优于后排；龙2/3也提供有效候选。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2CEA4EF-F126-4DC8-BB36-EAD71BF75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695700"/>
            <a:ext cx="9753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5A74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8C5AE2A-2989-4A83-9124-CB38672F3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00500"/>
            <a:ext cx="66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E9C4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E9C46A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3A3D6F9-04F7-4210-AFC9-E7EE75644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00050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跨段多换龙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281980E-2AA3-4B9B-B0F6-54BD93BD2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981450"/>
            <a:ext cx="7277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CE3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DCE3F0"/>
                </a:solidFill>
                <a:latin typeface="Microsoft YaHei"/>
                <a:ea typeface="Microsoft YaHei"/>
                <a:cs typeface="Microsoft YaHei"/>
              </a:rPr>
              <a:t>后续前三槽位67.8%是新股票；持续龙中多数发生角色移动。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F08C147-1103-4161-B99C-97CE4421E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610100"/>
            <a:ext cx="9753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5A74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D669414-AD12-49DD-9538-EE92DD8C3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14900"/>
            <a:ext cx="66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E9C4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E9C46A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1132D58-E736-484D-89FD-0D21B6DB5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91490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中军仍是上下文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AF06AC1-A196-454D-9EE2-939EDDC18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895850"/>
            <a:ext cx="7277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CE3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DCE3F0"/>
                </a:solidFill>
                <a:latin typeface="Microsoft YaHei"/>
                <a:ea typeface="Microsoft YaHei"/>
                <a:cs typeface="Microsoft YaHei"/>
              </a:rPr>
              <a:t>选择规则已明确，但70个可映射样本不支持单调延续关系。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8C186CF-B20C-4FEA-8096-4F5B9F8E8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848350"/>
            <a:ext cx="97536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85C41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CF55F8B-B241-4E91-A09C-D30BF0FFF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943600"/>
            <a:ext cx="9448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下一步仍先定义、再验证：把开盘30分钟板块—资金流接到这套题材与龙位事实地图上。</a:t>
            </a:r>
          </a:p>
        </p:txBody>
      </p:sp>
    </p:spTree>
    <p:extLst>
      <p:ext uri="{BB962C8B-B14F-4D97-AF65-F5344CB8AC3E}">
        <p14:creationId xmlns:p14="http://schemas.microsoft.com/office/powerpoint/2010/main" val="155006937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2026-09-21T11:09:04.3630000Z</dcterms:created>
  <dcterms:modified xsi:type="dcterms:W3CDTF">2026-09-21T11:09:04.3630000Z</dcterms:modified>
</coreProperties>
</file>